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7" r:id="rId5"/>
    <p:sldId id="258" r:id="rId6"/>
    <p:sldId id="262" r:id="rId7"/>
    <p:sldId id="265" r:id="rId8"/>
    <p:sldId id="264" r:id="rId9"/>
    <p:sldId id="269" r:id="rId10"/>
    <p:sldId id="270" r:id="rId11"/>
    <p:sldId id="271" r:id="rId12"/>
    <p:sldId id="266" r:id="rId13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286E"/>
    <a:srgbClr val="7BEBD8"/>
    <a:srgbClr val="8335E5"/>
    <a:srgbClr val="6B8DE1"/>
    <a:srgbClr val="6C92E1"/>
    <a:srgbClr val="6313DC"/>
    <a:srgbClr val="1E3ADA"/>
    <a:srgbClr val="030553"/>
    <a:srgbClr val="7D4BC9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52" autoAdjust="0"/>
  </p:normalViewPr>
  <p:slideViewPr>
    <p:cSldViewPr snapToGrid="0" showGuides="1">
      <p:cViewPr>
        <p:scale>
          <a:sx n="66" d="100"/>
          <a:sy n="66" d="100"/>
        </p:scale>
        <p:origin x="348" y="44"/>
      </p:cViewPr>
      <p:guideLst>
        <p:guide orient="horz" pos="2064"/>
        <p:guide pos="3840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3AF47BA-0B4C-4BF1-8E32-CC0E12D7D785}" type="datetime1">
              <a:rPr lang="ru-RU" smtClean="0"/>
              <a:t>07.03.2026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328996C-DF1E-45F4-80FD-86472FDB10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8B32DA0-7958-4173-8B36-3481D6373784}" type="datetime1">
              <a:rPr lang="ru-RU" noProof="0" smtClean="0"/>
              <a:t>07.03.2026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DF8F48A-6110-47DA-8521-A1D1FFD22FEF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7909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ru-RU"/>
              <a:t>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2023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9875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885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60933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80494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1836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12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2007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B0BBB5-FEB0-47AD-A01D-A9D346203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45F25D-6082-47DE-9B2C-675944DD1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F1C822-6504-4892-AC8E-54E9AA0C1052}" type="datetime1">
              <a:rPr lang="ru-RU" noProof="0" smtClean="0"/>
              <a:t>07.03.2026</a:t>
            </a:fld>
            <a:endParaRPr lang="ru-RU" noProof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24B0FF-3B25-4E5C-A0A7-4E1636362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377007-1A01-499B-ACAD-C9F9C20B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DADCE2-978E-4923-B0E9-4C966B679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EB0BD6-F012-4C6D-BDAD-9E90ED25A387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E2F9E5-192C-4E88-9147-D263893B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BC16730-FCA1-48D1-AE79-FC9F5CF46AA7}" type="datetime1">
              <a:rPr lang="ru-RU" noProof="0" smtClean="0"/>
              <a:t>07.03.2026</a:t>
            </a:fld>
            <a:endParaRPr lang="ru-RU" noProof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4A7138-3EAF-4C9D-903E-55D9BC040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DB0B82-496D-45C3-A682-7AF9AFFB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93DAD0-5F6F-47DA-A010-1C4A30C88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8EFA6E-A768-42A8-B2C3-F100D82609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F46640-E89E-47CE-984D-0C0ECF7CF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C207ED-B9A1-4F1D-B527-B516532AE58F}" type="datetime1">
              <a:rPr lang="ru-RU" noProof="0" smtClean="0"/>
              <a:t>07.03.2026</a:t>
            </a:fld>
            <a:endParaRPr lang="ru-RU" noProof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177A8F-F167-4C43-AEE7-450670801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1DA754-ED79-4909-833D-55BF9A5D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160087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9AA026-BFE6-4D2A-9ABF-C593B5666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4747E8-A36B-4B4A-B2A4-B5283152AB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6C6B59D-87BD-4F32-B9BC-31F9B1A5D7A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C49B47-0C41-4DCC-9902-126916D9C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9D3F2D2-D7C0-454B-81F7-7D358BB83CFD}" type="datetime1">
              <a:rPr lang="ru-RU" noProof="0" smtClean="0"/>
              <a:t>07.03.2026</a:t>
            </a:fld>
            <a:endParaRPr lang="ru-RU" noProof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7CD28B7-2F2D-4E80-A107-C1F266C6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35D650A-4D0F-46AE-A132-267FCD921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19876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64C6F9-F6F6-4EA1-98AA-81B84F7CC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B8B83E-B37C-46C9-8284-D6EBA0033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9A150B8-0288-44AC-9CE7-E7BD9FB32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F5DCAE-6027-49B9-A818-F45FADE27B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84FAE16-DBCB-4A42-BFFC-053F2D529A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E8C038-E6A1-499D-9E24-FA5980421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7F66B8-E6B8-4AA3-B780-80DD029AE0D7}" type="datetime1">
              <a:rPr lang="ru-RU" smtClean="0"/>
              <a:t>07.03.2026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9F911B6-A759-487E-8CB6-CF9EF737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A906EC0-369D-4138-8D70-148CFDEE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54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E02F8A-97AC-456C-B9E3-45A7D520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340F483-F2B9-47A3-9B5C-8C264B70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AC844C-792B-4FAC-89DD-38371405EE5B}" type="datetime1">
              <a:rPr lang="ru-RU" noProof="0" smtClean="0"/>
              <a:t>07.03.2026</a:t>
            </a:fld>
            <a:endParaRPr lang="ru-RU" noProof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5849874-9D9B-4597-B20D-33D6F58BC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B35894C-9062-435A-9758-82ED9C6D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681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6A3F6AD-4D61-4238-AB7D-613625BFF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4138459-30B2-45D9-84C2-0B82C6612FCC}" type="datetime1">
              <a:rPr lang="ru-RU" noProof="0" smtClean="0"/>
              <a:t>07.03.2026</a:t>
            </a:fld>
            <a:endParaRPr lang="ru-RU" noProof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8AACDC9-944D-47C6-B286-82C86AD94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EAAC43-3846-4080-B764-AB2DB308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821370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6F4779-0336-4AFA-B9A7-259EE8BEC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82F449-DDC3-4694-81E5-91A4B8F433E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00A2C4-3B2E-46AC-9605-73F5B2CC1F5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909769-F5A5-4635-BD0C-D6049DEB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F076D7-2B10-40C1-B05F-04F8B065827C}" type="datetime1">
              <a:rPr lang="ru-RU" noProof="0" smtClean="0"/>
              <a:t>07.03.2026</a:t>
            </a:fld>
            <a:endParaRPr lang="ru-RU" noProof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252DC3-D3D7-446F-A866-D7820B7BF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1CDB00-5218-4567-902B-845073BE8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77612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F661E4-9FF7-494B-A1C9-C9A1DD705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D245657-DA21-4769-84F8-88DC644508E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67B310-6692-4981-9CB8-FE79A091FF5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7DA2C9E-A9AD-4BB9-A691-90BB84F58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BC951B-237C-490B-918D-DA4191B5179D}" type="datetime1">
              <a:rPr lang="ru-RU" noProof="0" smtClean="0"/>
              <a:t>07.03.2026</a:t>
            </a:fld>
            <a:endParaRPr lang="ru-RU" noProof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B3D45D-C826-4846-BBFC-A0D98B7E7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516961-40DC-443E-9DB8-3A987DF4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631333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081C24-32F4-4208-B651-CDCBFCD03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8B74779-B577-461F-A409-71F6A5A11A01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B044BD-4FA0-432C-95D7-517D2DE8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9E1CDBA-E23B-41B7-AC58-9785B510F6C9}" type="datetime1">
              <a:rPr lang="ru-RU" noProof="0" smtClean="0"/>
              <a:t>07.03.2026</a:t>
            </a:fld>
            <a:endParaRPr lang="ru-RU" noProof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17F283-FE61-4C9A-9E39-74D429C5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F9B807-6FE9-4E47-846B-BCB39B7A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103985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42594DD-FFD4-4AA9-BCDA-0BA87C146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79C2B6E-24EB-42CE-8B4D-3178D08C7EB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C92C56-63F3-4246-AAEE-2FBC89E8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52305D3-1A28-4C21-B552-3301EDC1196E}" type="datetime1">
              <a:rPr lang="ru-RU" noProof="0" smtClean="0"/>
              <a:t>07.03.2026</a:t>
            </a:fld>
            <a:endParaRPr lang="ru-RU" noProof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C10319-C816-40EC-B1D0-FD9748E4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54E9AB-6952-407A-9F06-2EB917172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60371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5B76CF3E-9A4F-45A3-96D2-0DFFCB5A36A6}" type="datetime1">
              <a:rPr lang="ru-RU" noProof="0" smtClean="0"/>
              <a:t>07.03.2026</a:t>
            </a:fld>
            <a:endParaRPr lang="ru-RU" noProof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ED6580AB-5C3C-4B4F-8E2A-8B7A0A8CE69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 hidden="1">
            <a:extLst>
              <a:ext uri="{FF2B5EF4-FFF2-40B4-BE49-F238E27FC236}">
                <a16:creationId xmlns:a16="http://schemas.microsoft.com/office/drawing/2014/main" id="{016C325E-5B69-4D07-BBFB-7DB217A69D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ru-RU" dirty="0"/>
              <a:t>Слайд 1 с информацией о кадрах</a:t>
            </a:r>
          </a:p>
        </p:txBody>
      </p:sp>
      <p:sp>
        <p:nvSpPr>
          <p:cNvPr id="24" name="Надпись 23">
            <a:extLst>
              <a:ext uri="{FF2B5EF4-FFF2-40B4-BE49-F238E27FC236}">
                <a16:creationId xmlns:a16="http://schemas.microsoft.com/office/drawing/2014/main" id="{C1165547-DF3A-4694-9097-2BDAF2003713}"/>
              </a:ext>
            </a:extLst>
          </p:cNvPr>
          <p:cNvSpPr txBox="1"/>
          <p:nvPr/>
        </p:nvSpPr>
        <p:spPr>
          <a:xfrm>
            <a:off x="780161" y="1659236"/>
            <a:ext cx="4845708" cy="29546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ru-RU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Определение экспериментальных групп мозговой ткани по </a:t>
            </a:r>
            <a:r>
              <a:rPr lang="ru-RU" sz="3200" b="1" dirty="0" err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рамановским</a:t>
            </a:r>
            <a:r>
              <a:rPr lang="ru-RU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спектрам с помощью машинного обучения</a:t>
            </a: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733192" y="5696055"/>
            <a:ext cx="4320071" cy="49244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ru-RU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Илькаева Анастасия, </a:t>
            </a:r>
            <a:r>
              <a:rPr lang="ru-RU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Утушкин</a:t>
            </a:r>
            <a:r>
              <a:rPr lang="ru-RU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Евгений, </a:t>
            </a:r>
            <a:r>
              <a:rPr lang="ru-RU" sz="16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Яцун</a:t>
            </a:r>
            <a:r>
              <a:rPr lang="ru-RU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Игорь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8E504344-8563-476C-9EF9-4200B272F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55953" y="-2833465"/>
            <a:ext cx="8948964" cy="12105059"/>
            <a:chOff x="4855953" y="-2833465"/>
            <a:chExt cx="8948964" cy="12105059"/>
          </a:xfrm>
        </p:grpSpPr>
        <p:sp>
          <p:nvSpPr>
            <p:cNvPr id="18" name="Полилиния 10">
              <a:extLst>
                <a:ext uri="{FF2B5EF4-FFF2-40B4-BE49-F238E27FC236}">
                  <a16:creationId xmlns:a16="http://schemas.microsoft.com/office/drawing/2014/main" id="{73D22BE5-D5D5-4BF2-A935-5C4AB588B45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19" name="Полилиния 11">
              <a:extLst>
                <a:ext uri="{FF2B5EF4-FFF2-40B4-BE49-F238E27FC236}">
                  <a16:creationId xmlns:a16="http://schemas.microsoft.com/office/drawing/2014/main" id="{C42C174B-303A-45F6-8FF1-93001A3AAFC1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0" name="Полилиния 12">
              <a:extLst>
                <a:ext uri="{FF2B5EF4-FFF2-40B4-BE49-F238E27FC236}">
                  <a16:creationId xmlns:a16="http://schemas.microsoft.com/office/drawing/2014/main" id="{22AA5A4F-A0EB-453F-A699-F817D4616C6F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6F733EC-C037-4914-AE67-83E937820A30}"/>
              </a:ext>
            </a:extLst>
          </p:cNvPr>
          <p:cNvSpPr txBox="1"/>
          <p:nvPr/>
        </p:nvSpPr>
        <p:spPr>
          <a:xfrm>
            <a:off x="695931" y="4613891"/>
            <a:ext cx="48683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16286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Дифференциация стресс-индуцированных и </a:t>
            </a:r>
            <a:r>
              <a:rPr lang="ru-RU" b="1" dirty="0" err="1">
                <a:solidFill>
                  <a:srgbClr val="16286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нейропротективных</a:t>
            </a:r>
            <a:r>
              <a:rPr lang="ru-RU" b="1" dirty="0">
                <a:solidFill>
                  <a:srgbClr val="16286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изменений (влияние HSP70)</a:t>
            </a:r>
          </a:p>
        </p:txBody>
      </p:sp>
    </p:spTree>
    <p:extLst>
      <p:ext uri="{BB962C8B-B14F-4D97-AF65-F5344CB8AC3E}">
        <p14:creationId xmlns:p14="http://schemas.microsoft.com/office/powerpoint/2010/main" val="3254356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дпись 1">
            <a:extLst>
              <a:ext uri="{FF2B5EF4-FFF2-40B4-BE49-F238E27FC236}">
                <a16:creationId xmlns:a16="http://schemas.microsoft.com/office/drawing/2014/main" id="{D815E537-4AB4-4445-A3AC-40D738EDF3DC}"/>
              </a:ext>
            </a:extLst>
          </p:cNvPr>
          <p:cNvSpPr txBox="1"/>
          <p:nvPr/>
        </p:nvSpPr>
        <p:spPr>
          <a:xfrm>
            <a:off x="1135643" y="443189"/>
            <a:ext cx="5541937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ru-RU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Как работает </a:t>
            </a:r>
            <a:r>
              <a:rPr lang="ru-RU" sz="3200" b="1" dirty="0" err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рамановская</a:t>
            </a:r>
            <a:r>
              <a:rPr lang="ru-RU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спектроскопия?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38D4B56-7D6C-4345-912F-B3BA9A014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40229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Группа 68">
            <a:extLst>
              <a:ext uri="{FF2B5EF4-FFF2-40B4-BE49-F238E27FC236}">
                <a16:creationId xmlns:a16="http://schemas.microsoft.com/office/drawing/2014/main" id="{B457331C-2A24-4352-9B4C-1C1B326F4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8117" y="1595400"/>
            <a:ext cx="6045432" cy="4770106"/>
            <a:chOff x="512382" y="1663296"/>
            <a:chExt cx="4102063" cy="4770106"/>
          </a:xfrm>
        </p:grpSpPr>
        <p:grpSp>
          <p:nvGrpSpPr>
            <p:cNvPr id="21" name="Группа 20">
              <a:extLst>
                <a:ext uri="{FF2B5EF4-FFF2-40B4-BE49-F238E27FC236}">
                  <a16:creationId xmlns:a16="http://schemas.microsoft.com/office/drawing/2014/main" id="{B111D787-E830-4638-97B3-205F0A0ABC3F}"/>
                </a:ext>
              </a:extLst>
            </p:cNvPr>
            <p:cNvGrpSpPr/>
            <p:nvPr/>
          </p:nvGrpSpPr>
          <p:grpSpPr>
            <a:xfrm>
              <a:off x="518433" y="1663296"/>
              <a:ext cx="4096012" cy="738664"/>
              <a:chOff x="518433" y="1822373"/>
              <a:chExt cx="4096012" cy="738664"/>
            </a:xfrm>
          </p:grpSpPr>
          <p:sp>
            <p:nvSpPr>
              <p:cNvPr id="6" name="Прямоугольник: Скругленные углы 5">
                <a:extLst>
                  <a:ext uri="{FF2B5EF4-FFF2-40B4-BE49-F238E27FC236}">
                    <a16:creationId xmlns:a16="http://schemas.microsoft.com/office/drawing/2014/main" id="{6BFCD1AA-E1CA-41D6-8605-56AFEBE4EEE3}"/>
                  </a:ext>
                </a:extLst>
              </p:cNvPr>
              <p:cNvSpPr/>
              <p:nvPr/>
            </p:nvSpPr>
            <p:spPr>
              <a:xfrm>
                <a:off x="518433" y="1981199"/>
                <a:ext cx="443592" cy="23229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dirty="0"/>
              </a:p>
            </p:txBody>
          </p:sp>
          <p:sp>
            <p:nvSpPr>
              <p:cNvPr id="8" name="Прямоугольник 7">
                <a:extLst>
                  <a:ext uri="{FF2B5EF4-FFF2-40B4-BE49-F238E27FC236}">
                    <a16:creationId xmlns:a16="http://schemas.microsoft.com/office/drawing/2014/main" id="{E9101D99-B002-4698-9C7E-C942B9AA2D39}"/>
                  </a:ext>
                </a:extLst>
              </p:cNvPr>
              <p:cNvSpPr/>
              <p:nvPr/>
            </p:nvSpPr>
            <p:spPr>
              <a:xfrm>
                <a:off x="1078250" y="1822373"/>
                <a:ext cx="3536195" cy="738664"/>
              </a:xfrm>
              <a:prstGeom prst="rect">
                <a:avLst/>
              </a:prstGeom>
            </p:spPr>
            <p:txBody>
              <a:bodyPr wrap="square" lIns="0" tIns="0" rIns="0" bIns="0" rtlCol="0">
                <a:spAutoFit/>
              </a:bodyPr>
              <a:lstStyle/>
              <a:p>
                <a:pPr algn="just" rtl="0"/>
                <a:r>
                  <a:rPr lang="ru-RU" sz="1600" b="0" i="0" dirty="0">
                    <a:solidFill>
                      <a:srgbClr val="16286E"/>
                    </a:solidFill>
                    <a:effectLst/>
                    <a:latin typeface="quote-cjk-patch"/>
                  </a:rPr>
                  <a:t>Это график, показывающий, как молекулы образца рассеивают свет. По оси X — </a:t>
                </a:r>
                <a:r>
                  <a:rPr lang="ru-RU" sz="1600" b="1" i="0" dirty="0">
                    <a:solidFill>
                      <a:srgbClr val="16286E"/>
                    </a:solidFill>
                    <a:effectLst/>
                    <a:latin typeface="quote-cjk-patch"/>
                  </a:rPr>
                  <a:t>волновое число</a:t>
                </a:r>
                <a:r>
                  <a:rPr lang="ru-RU" sz="1600" b="0" i="0" dirty="0">
                    <a:solidFill>
                      <a:srgbClr val="16286E"/>
                    </a:solidFill>
                    <a:effectLst/>
                    <a:latin typeface="quote-cjk-patch"/>
                  </a:rPr>
                  <a:t> (сдвиг энергии, см⁻¹), по оси Y — </a:t>
                </a:r>
                <a:r>
                  <a:rPr lang="ru-RU" sz="1600" b="1" i="0" dirty="0">
                    <a:solidFill>
                      <a:srgbClr val="16286E"/>
                    </a:solidFill>
                    <a:effectLst/>
                    <a:latin typeface="quote-cjk-patch"/>
                  </a:rPr>
                  <a:t>интенсивность</a:t>
                </a:r>
                <a:r>
                  <a:rPr lang="ru-RU" sz="1600" b="0" i="0" dirty="0">
                    <a:solidFill>
                      <a:srgbClr val="16286E"/>
                    </a:solidFill>
                    <a:effectLst/>
                    <a:latin typeface="quote-cjk-patch"/>
                  </a:rPr>
                  <a:t> (сколько фотонов рассеялось).</a:t>
                </a:r>
                <a:endParaRPr lang="ru-RU" sz="1600" i="1" dirty="0">
                  <a:solidFill>
                    <a:srgbClr val="16286E"/>
                  </a:solidFill>
                  <a:latin typeface="+mj-lt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0" name="Группа 19">
              <a:extLst>
                <a:ext uri="{FF2B5EF4-FFF2-40B4-BE49-F238E27FC236}">
                  <a16:creationId xmlns:a16="http://schemas.microsoft.com/office/drawing/2014/main" id="{2D19246F-8F2D-4FAD-8927-AA34DDAA5DFA}"/>
                </a:ext>
              </a:extLst>
            </p:cNvPr>
            <p:cNvGrpSpPr/>
            <p:nvPr/>
          </p:nvGrpSpPr>
          <p:grpSpPr>
            <a:xfrm>
              <a:off x="518433" y="2775416"/>
              <a:ext cx="3920970" cy="984885"/>
              <a:chOff x="518433" y="2717554"/>
              <a:chExt cx="3920970" cy="984885"/>
            </a:xfrm>
          </p:grpSpPr>
          <p:sp>
            <p:nvSpPr>
              <p:cNvPr id="9" name="Прямоугольник: Скругленные углы 8">
                <a:extLst>
                  <a:ext uri="{FF2B5EF4-FFF2-40B4-BE49-F238E27FC236}">
                    <a16:creationId xmlns:a16="http://schemas.microsoft.com/office/drawing/2014/main" id="{14FF47BA-9557-4442-8E2A-74A4F4AAD237}"/>
                  </a:ext>
                </a:extLst>
              </p:cNvPr>
              <p:cNvSpPr/>
              <p:nvPr/>
            </p:nvSpPr>
            <p:spPr>
              <a:xfrm>
                <a:off x="518433" y="2847627"/>
                <a:ext cx="443592" cy="23229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dirty="0"/>
              </a:p>
            </p:txBody>
          </p:sp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B00C2221-E8A7-47E0-B2B2-5A6A32F96791}"/>
                  </a:ext>
                </a:extLst>
              </p:cNvPr>
              <p:cNvSpPr/>
              <p:nvPr/>
            </p:nvSpPr>
            <p:spPr>
              <a:xfrm>
                <a:off x="1078250" y="2717554"/>
                <a:ext cx="3361153" cy="984885"/>
              </a:xfrm>
              <a:prstGeom prst="rect">
                <a:avLst/>
              </a:prstGeom>
            </p:spPr>
            <p:txBody>
              <a:bodyPr wrap="square" lIns="0" tIns="0" rIns="0" bIns="0" rtlCol="0">
                <a:spAutoFit/>
              </a:bodyPr>
              <a:lstStyle/>
              <a:p>
                <a:pPr algn="just" rtl="0"/>
                <a:r>
                  <a:rPr lang="ru-RU" sz="1600" b="0" i="0" dirty="0">
                    <a:solidFill>
                      <a:srgbClr val="16286E"/>
                    </a:solidFill>
                    <a:effectLst/>
                    <a:latin typeface="quote-cjk-patch"/>
                  </a:rPr>
                  <a:t>Лазер светит на образец, фотоны сталкиваются с молекулами и теряют/приобретают энергию. Потеря энергии = конкретному типу химических связей в молекулах.</a:t>
                </a:r>
                <a:endParaRPr lang="ru-RU" sz="1600" i="1" dirty="0">
                  <a:solidFill>
                    <a:srgbClr val="16286E"/>
                  </a:solidFill>
                  <a:latin typeface="+mj-lt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9" name="Группа 18">
              <a:extLst>
                <a:ext uri="{FF2B5EF4-FFF2-40B4-BE49-F238E27FC236}">
                  <a16:creationId xmlns:a16="http://schemas.microsoft.com/office/drawing/2014/main" id="{9D065A01-39E4-4CC9-9075-3910C66205F5}"/>
                </a:ext>
              </a:extLst>
            </p:cNvPr>
            <p:cNvGrpSpPr/>
            <p:nvPr/>
          </p:nvGrpSpPr>
          <p:grpSpPr>
            <a:xfrm>
              <a:off x="512382" y="3988856"/>
              <a:ext cx="3471790" cy="984885"/>
              <a:chOff x="512382" y="3727980"/>
              <a:chExt cx="3471790" cy="984885"/>
            </a:xfrm>
          </p:grpSpPr>
          <p:sp>
            <p:nvSpPr>
              <p:cNvPr id="11" name="Прямоугольник: Скругленные углы 10">
                <a:extLst>
                  <a:ext uri="{FF2B5EF4-FFF2-40B4-BE49-F238E27FC236}">
                    <a16:creationId xmlns:a16="http://schemas.microsoft.com/office/drawing/2014/main" id="{6B458D5C-BDF7-4A75-A4E8-B99128DCD84A}"/>
                  </a:ext>
                </a:extLst>
              </p:cNvPr>
              <p:cNvSpPr/>
              <p:nvPr/>
            </p:nvSpPr>
            <p:spPr>
              <a:xfrm>
                <a:off x="512382" y="3889415"/>
                <a:ext cx="443592" cy="23229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dirty="0"/>
              </a:p>
            </p:txBody>
          </p:sp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CA17B45E-57F0-4725-89C0-3CD74A5097A3}"/>
                  </a:ext>
                </a:extLst>
              </p:cNvPr>
              <p:cNvSpPr/>
              <p:nvPr/>
            </p:nvSpPr>
            <p:spPr>
              <a:xfrm>
                <a:off x="1078249" y="3727980"/>
                <a:ext cx="2905923" cy="984885"/>
              </a:xfrm>
              <a:prstGeom prst="rect">
                <a:avLst/>
              </a:prstGeom>
            </p:spPr>
            <p:txBody>
              <a:bodyPr wrap="square" lIns="0" tIns="0" rIns="0" bIns="0" rtlCol="0">
                <a:spAutoFit/>
              </a:bodyPr>
              <a:lstStyle/>
              <a:p>
                <a:pPr algn="just" rtl="0"/>
                <a:r>
                  <a:rPr lang="ru-RU" sz="1600" dirty="0">
                    <a:solidFill>
                      <a:srgbClr val="16286E"/>
                    </a:solidFill>
                    <a:latin typeface="quote-cjk-patch"/>
                  </a:rPr>
                  <a:t>Мы видим п</a:t>
                </a:r>
                <a:r>
                  <a:rPr lang="ru-RU" sz="1600" b="0" i="0" dirty="0">
                    <a:solidFill>
                      <a:srgbClr val="16286E"/>
                    </a:solidFill>
                    <a:effectLst/>
                    <a:latin typeface="quote-cjk-patch"/>
                  </a:rPr>
                  <a:t>ики (всплески) на определенных волновых числах. Каждый пик = определенный тип молекулы или химической связи. Набор пиков — это </a:t>
                </a:r>
                <a:r>
                  <a:rPr lang="ru-RU" sz="1600" b="1" i="0" dirty="0">
                    <a:solidFill>
                      <a:srgbClr val="16286E"/>
                    </a:solidFill>
                    <a:effectLst/>
                    <a:latin typeface="quote-cjk-patch"/>
                  </a:rPr>
                  <a:t>"отпечаток пальца"</a:t>
                </a:r>
                <a:r>
                  <a:rPr lang="ru-RU" sz="1600" b="0" i="0" dirty="0">
                    <a:solidFill>
                      <a:srgbClr val="16286E"/>
                    </a:solidFill>
                    <a:effectLst/>
                    <a:latin typeface="quote-cjk-patch"/>
                  </a:rPr>
                  <a:t> вещества.</a:t>
                </a:r>
                <a:endParaRPr lang="ru-RU" sz="1600" i="1" dirty="0">
                  <a:solidFill>
                    <a:srgbClr val="16286E"/>
                  </a:solidFill>
                  <a:latin typeface="+mj-lt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8" name="Группа 17">
              <a:extLst>
                <a:ext uri="{FF2B5EF4-FFF2-40B4-BE49-F238E27FC236}">
                  <a16:creationId xmlns:a16="http://schemas.microsoft.com/office/drawing/2014/main" id="{609D452F-25F9-4A2F-84BD-9A44714884C6}"/>
                </a:ext>
              </a:extLst>
            </p:cNvPr>
            <p:cNvGrpSpPr/>
            <p:nvPr/>
          </p:nvGrpSpPr>
          <p:grpSpPr>
            <a:xfrm>
              <a:off x="512382" y="5202296"/>
              <a:ext cx="3506101" cy="1231106"/>
              <a:chOff x="512382" y="4738407"/>
              <a:chExt cx="3506101" cy="1231106"/>
            </a:xfrm>
          </p:grpSpPr>
          <p:sp>
            <p:nvSpPr>
              <p:cNvPr id="13" name="Прямоугольник: Скругленные углы 12">
                <a:extLst>
                  <a:ext uri="{FF2B5EF4-FFF2-40B4-BE49-F238E27FC236}">
                    <a16:creationId xmlns:a16="http://schemas.microsoft.com/office/drawing/2014/main" id="{64E3D015-D1E6-40C0-B820-5D2B0144652D}"/>
                  </a:ext>
                </a:extLst>
              </p:cNvPr>
              <p:cNvSpPr/>
              <p:nvPr/>
            </p:nvSpPr>
            <p:spPr>
              <a:xfrm>
                <a:off x="512382" y="4885283"/>
                <a:ext cx="443592" cy="23229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dirty="0"/>
              </a:p>
            </p:txBody>
          </p:sp>
          <p:sp>
            <p:nvSpPr>
              <p:cNvPr id="14" name="Прямоугольник 13">
                <a:extLst>
                  <a:ext uri="{FF2B5EF4-FFF2-40B4-BE49-F238E27FC236}">
                    <a16:creationId xmlns:a16="http://schemas.microsoft.com/office/drawing/2014/main" id="{9187696D-0387-46E9-A420-AD2392161D95}"/>
                  </a:ext>
                </a:extLst>
              </p:cNvPr>
              <p:cNvSpPr/>
              <p:nvPr/>
            </p:nvSpPr>
            <p:spPr>
              <a:xfrm>
                <a:off x="1078250" y="4738407"/>
                <a:ext cx="2940233" cy="1231106"/>
              </a:xfrm>
              <a:prstGeom prst="rect">
                <a:avLst/>
              </a:prstGeom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:r>
                  <a:rPr lang="ru-RU" sz="1600" b="0" i="0" dirty="0">
                    <a:solidFill>
                      <a:srgbClr val="16286E"/>
                    </a:solidFill>
                    <a:effectLst/>
                    <a:latin typeface="quote-cjk-patch"/>
                  </a:rPr>
                  <a:t>У здоровых и больных тканей разные "отпечатки". Мы ищем, какие пики меняются при появлении HSP70 (белка стресса), чтобы научить модель отличать </a:t>
                </a:r>
                <a:r>
                  <a:rPr lang="ru-RU" sz="1600" b="1" dirty="0">
                    <a:solidFill>
                      <a:srgbClr val="16286E"/>
                    </a:solidFill>
                    <a:latin typeface="quote-cjk-patch"/>
                  </a:rPr>
                  <a:t>к</a:t>
                </a:r>
                <a:r>
                  <a:rPr lang="ru-RU" sz="1600" b="1" i="0" dirty="0">
                    <a:solidFill>
                      <a:srgbClr val="16286E"/>
                    </a:solidFill>
                    <a:effectLst/>
                    <a:latin typeface="quote-cjk-patch"/>
                  </a:rPr>
                  <a:t>онтроль</a:t>
                </a:r>
                <a:r>
                  <a:rPr lang="ru-RU" sz="1600" dirty="0">
                    <a:solidFill>
                      <a:srgbClr val="16286E"/>
                    </a:solidFill>
                    <a:latin typeface="quote-cjk-patch"/>
                  </a:rPr>
                  <a:t>, </a:t>
                </a:r>
                <a:r>
                  <a:rPr lang="ru-RU" sz="1600" b="1" dirty="0">
                    <a:solidFill>
                      <a:srgbClr val="16286E"/>
                    </a:solidFill>
                    <a:latin typeface="quote-cjk-patch"/>
                  </a:rPr>
                  <a:t>э</a:t>
                </a:r>
                <a:r>
                  <a:rPr lang="ru-RU" sz="1600" b="1" i="0" dirty="0">
                    <a:solidFill>
                      <a:srgbClr val="16286E"/>
                    </a:solidFill>
                    <a:effectLst/>
                    <a:latin typeface="quote-cjk-patch"/>
                  </a:rPr>
                  <a:t>ндогенный HSP70</a:t>
                </a:r>
                <a:r>
                  <a:rPr lang="ru-RU" sz="1600" dirty="0">
                    <a:solidFill>
                      <a:srgbClr val="16286E"/>
                    </a:solidFill>
                    <a:latin typeface="quote-cjk-patch"/>
                  </a:rPr>
                  <a:t>, </a:t>
                </a:r>
                <a:r>
                  <a:rPr lang="ru-RU" sz="1600" b="1" i="0" dirty="0">
                    <a:solidFill>
                      <a:srgbClr val="16286E"/>
                    </a:solidFill>
                    <a:effectLst/>
                    <a:latin typeface="quote-cjk-patch"/>
                  </a:rPr>
                  <a:t>экзогенный HSP70</a:t>
                </a:r>
                <a:endParaRPr lang="ru-RU" sz="1600" b="0" i="0" dirty="0">
                  <a:solidFill>
                    <a:srgbClr val="16286E"/>
                  </a:solidFill>
                  <a:effectLst/>
                  <a:latin typeface="quote-cjk-patch"/>
                </a:endParaRPr>
              </a:p>
            </p:txBody>
          </p:sp>
        </p:grpSp>
      </p:grpSp>
      <p:sp>
        <p:nvSpPr>
          <p:cNvPr id="22" name="Овал 21">
            <a:extLst>
              <a:ext uri="{FF2B5EF4-FFF2-40B4-BE49-F238E27FC236}">
                <a16:creationId xmlns:a16="http://schemas.microsoft.com/office/drawing/2014/main" id="{E7D1D117-BC5C-430A-9FEB-B231E6915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852" y="6330880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2577E8EA-5E95-41C5-8BE8-EE647DE26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852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grpSp>
        <p:nvGrpSpPr>
          <p:cNvPr id="62" name="Группа 61" descr="Это изображение содержит руки женщины, пишущей на бумаге. ">
            <a:extLst>
              <a:ext uri="{FF2B5EF4-FFF2-40B4-BE49-F238E27FC236}">
                <a16:creationId xmlns:a16="http://schemas.microsoft.com/office/drawing/2014/main" id="{123C05C1-3914-48FB-B4B8-1388A2DB5ACE}"/>
              </a:ext>
            </a:extLst>
          </p:cNvPr>
          <p:cNvGrpSpPr/>
          <p:nvPr/>
        </p:nvGrpSpPr>
        <p:grpSpPr>
          <a:xfrm>
            <a:off x="5034013" y="-539010"/>
            <a:ext cx="8739665" cy="8346238"/>
            <a:chOff x="4597682" y="-439156"/>
            <a:chExt cx="7594319" cy="7252450"/>
          </a:xfrm>
        </p:grpSpPr>
        <p:sp>
          <p:nvSpPr>
            <p:cNvPr id="45" name="Полилиния 22">
              <a:extLst>
                <a:ext uri="{FF2B5EF4-FFF2-40B4-BE49-F238E27FC236}">
                  <a16:creationId xmlns:a16="http://schemas.microsoft.com/office/drawing/2014/main" id="{52C7242F-F484-4573-8387-13E2AE9DD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682" y="-6899"/>
              <a:ext cx="7594319" cy="6820193"/>
            </a:xfrm>
            <a:custGeom>
              <a:avLst/>
              <a:gdLst>
                <a:gd name="T0" fmla="*/ 2254 w 2254"/>
                <a:gd name="T1" fmla="*/ 0 h 2026"/>
                <a:gd name="T2" fmla="*/ 2254 w 2254"/>
                <a:gd name="T3" fmla="*/ 2026 h 2026"/>
                <a:gd name="T4" fmla="*/ 2091 w 2254"/>
                <a:gd name="T5" fmla="*/ 1927 h 2026"/>
                <a:gd name="T6" fmla="*/ 1829 w 2254"/>
                <a:gd name="T7" fmla="*/ 1867 h 2026"/>
                <a:gd name="T8" fmla="*/ 1784 w 2254"/>
                <a:gd name="T9" fmla="*/ 1860 h 2026"/>
                <a:gd name="T10" fmla="*/ 1025 w 2254"/>
                <a:gd name="T11" fmla="*/ 1812 h 2026"/>
                <a:gd name="T12" fmla="*/ 330 w 2254"/>
                <a:gd name="T13" fmla="*/ 1005 h 2026"/>
                <a:gd name="T14" fmla="*/ 662 w 2254"/>
                <a:gd name="T15" fmla="*/ 430 h 2026"/>
                <a:gd name="T16" fmla="*/ 770 w 2254"/>
                <a:gd name="T17" fmla="*/ 0 h 2026"/>
                <a:gd name="T18" fmla="*/ 2254 w 2254"/>
                <a:gd name="T19" fmla="*/ 0 h 2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54" h="2026">
                  <a:moveTo>
                    <a:pt x="2254" y="0"/>
                  </a:moveTo>
                  <a:cubicBezTo>
                    <a:pt x="2254" y="2026"/>
                    <a:pt x="2254" y="2026"/>
                    <a:pt x="2254" y="2026"/>
                  </a:cubicBezTo>
                  <a:cubicBezTo>
                    <a:pt x="2243" y="2005"/>
                    <a:pt x="2206" y="1966"/>
                    <a:pt x="2091" y="1927"/>
                  </a:cubicBezTo>
                  <a:cubicBezTo>
                    <a:pt x="2029" y="1906"/>
                    <a:pt x="1944" y="1885"/>
                    <a:pt x="1829" y="1867"/>
                  </a:cubicBezTo>
                  <a:cubicBezTo>
                    <a:pt x="1814" y="1865"/>
                    <a:pt x="1800" y="1862"/>
                    <a:pt x="1784" y="1860"/>
                  </a:cubicBezTo>
                  <a:cubicBezTo>
                    <a:pt x="1606" y="1835"/>
                    <a:pt x="1361" y="1816"/>
                    <a:pt x="1025" y="1812"/>
                  </a:cubicBezTo>
                  <a:cubicBezTo>
                    <a:pt x="0" y="1800"/>
                    <a:pt x="66" y="1196"/>
                    <a:pt x="330" y="1005"/>
                  </a:cubicBezTo>
                  <a:cubicBezTo>
                    <a:pt x="580" y="825"/>
                    <a:pt x="686" y="680"/>
                    <a:pt x="662" y="430"/>
                  </a:cubicBezTo>
                  <a:cubicBezTo>
                    <a:pt x="638" y="181"/>
                    <a:pt x="770" y="0"/>
                    <a:pt x="770" y="0"/>
                  </a:cubicBezTo>
                  <a:lnTo>
                    <a:pt x="2254" y="0"/>
                  </a:ln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5000">
                  <a:srgbClr val="6672E4"/>
                </a:gs>
                <a:gs pos="100000">
                  <a:srgbClr val="882BE5"/>
                </a:gs>
              </a:gsLst>
              <a:lin ang="4800000" scaled="0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51" name="Полилиния 28">
              <a:extLst>
                <a:ext uri="{FF2B5EF4-FFF2-40B4-BE49-F238E27FC236}">
                  <a16:creationId xmlns:a16="http://schemas.microsoft.com/office/drawing/2014/main" id="{C95685F9-863C-488D-A6CE-3A519F21E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4938" y="-14067"/>
              <a:ext cx="387063" cy="7168"/>
            </a:xfrm>
            <a:custGeom>
              <a:avLst/>
              <a:gdLst>
                <a:gd name="T0" fmla="*/ 115 w 115"/>
                <a:gd name="T1" fmla="*/ 2 h 2"/>
                <a:gd name="T2" fmla="*/ 0 w 115"/>
                <a:gd name="T3" fmla="*/ 2 h 2"/>
                <a:gd name="T4" fmla="*/ 115 w 115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" h="2">
                  <a:moveTo>
                    <a:pt x="115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73" y="0"/>
                    <a:pt x="115" y="2"/>
                    <a:pt x="115" y="2"/>
                  </a:cubicBezTo>
                  <a:close/>
                </a:path>
              </a:pathLst>
            </a:custGeom>
            <a:solidFill>
              <a:srgbClr val="190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67" name="Полилиния: Фигура 66">
              <a:extLst>
                <a:ext uri="{FF2B5EF4-FFF2-40B4-BE49-F238E27FC236}">
                  <a16:creationId xmlns:a16="http://schemas.microsoft.com/office/drawing/2014/main" id="{2ACAA286-8EC7-477A-B799-85B6B23E638D}"/>
                </a:ext>
              </a:extLst>
            </p:cNvPr>
            <p:cNvSpPr/>
            <p:nvPr/>
          </p:nvSpPr>
          <p:spPr>
            <a:xfrm rot="20923453">
              <a:off x="6655548" y="-439156"/>
              <a:ext cx="5488008" cy="1037277"/>
            </a:xfrm>
            <a:custGeom>
              <a:avLst/>
              <a:gdLst>
                <a:gd name="connsiteX0" fmla="*/ 584535 w 5488008"/>
                <a:gd name="connsiteY0" fmla="*/ 0 h 1037277"/>
                <a:gd name="connsiteX1" fmla="*/ 5488008 w 5488008"/>
                <a:gd name="connsiteY1" fmla="*/ 977656 h 1037277"/>
                <a:gd name="connsiteX2" fmla="*/ 5476121 w 5488008"/>
                <a:gd name="connsiteY2" fmla="*/ 1037276 h 1037277"/>
                <a:gd name="connsiteX3" fmla="*/ 0 w 5488008"/>
                <a:gd name="connsiteY3" fmla="*/ 1037277 h 1037277"/>
                <a:gd name="connsiteX4" fmla="*/ 35107 w 5488008"/>
                <a:gd name="connsiteY4" fmla="*/ 912868 h 1037277"/>
                <a:gd name="connsiteX5" fmla="*/ 584535 w 5488008"/>
                <a:gd name="connsiteY5" fmla="*/ 0 h 103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88008" h="1037277">
                  <a:moveTo>
                    <a:pt x="584535" y="0"/>
                  </a:moveTo>
                  <a:lnTo>
                    <a:pt x="5488008" y="977656"/>
                  </a:lnTo>
                  <a:lnTo>
                    <a:pt x="5476121" y="1037276"/>
                  </a:lnTo>
                  <a:lnTo>
                    <a:pt x="0" y="1037277"/>
                  </a:lnTo>
                  <a:lnTo>
                    <a:pt x="35107" y="912868"/>
                  </a:lnTo>
                  <a:cubicBezTo>
                    <a:pt x="217952" y="337066"/>
                    <a:pt x="584535" y="0"/>
                    <a:pt x="584535" y="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83000">
                  <a:srgbClr val="6672E4"/>
                </a:gs>
              </a:gsLst>
              <a:lin ang="24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Заголовок 14" hidden="1">
            <a:extLst>
              <a:ext uri="{FF2B5EF4-FFF2-40B4-BE49-F238E27FC236}">
                <a16:creationId xmlns:a16="http://schemas.microsoft.com/office/drawing/2014/main" id="{1B710331-53CB-4E4F-A9D3-D1E190EEA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dirty="0"/>
              <a:t>Слайд 2 с информацией о кадрах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C1CAD287-78EF-4CA6-A823-1D3529167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8034" y="1870374"/>
            <a:ext cx="4129241" cy="3382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523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 hidden="1">
            <a:extLst>
              <a:ext uri="{FF2B5EF4-FFF2-40B4-BE49-F238E27FC236}">
                <a16:creationId xmlns:a16="http://schemas.microsoft.com/office/drawing/2014/main" id="{5A790B0A-0491-4358-8078-EF85845DE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dirty="0"/>
              <a:t>Слайд 6 с информацией о кадрах</a:t>
            </a:r>
          </a:p>
        </p:txBody>
      </p:sp>
      <p:grpSp>
        <p:nvGrpSpPr>
          <p:cNvPr id="29" name="Группа 28" descr="Это изображение содержит рисунок мужчины с бородой. ">
            <a:extLst>
              <a:ext uri="{FF2B5EF4-FFF2-40B4-BE49-F238E27FC236}">
                <a16:creationId xmlns:a16="http://schemas.microsoft.com/office/drawing/2014/main" id="{F32A5E08-DAB7-4688-9995-64BE90AA2F83}"/>
              </a:ext>
            </a:extLst>
          </p:cNvPr>
          <p:cNvGrpSpPr/>
          <p:nvPr/>
        </p:nvGrpSpPr>
        <p:grpSpPr>
          <a:xfrm>
            <a:off x="283717" y="1309164"/>
            <a:ext cx="4430272" cy="6043606"/>
            <a:chOff x="117404" y="1951388"/>
            <a:chExt cx="3810340" cy="5197917"/>
          </a:xfrm>
        </p:grpSpPr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id="{EEAF1E36-1F6F-484C-9CA3-D7321F33C7EE}"/>
                </a:ext>
              </a:extLst>
            </p:cNvPr>
            <p:cNvSpPr/>
            <p:nvPr/>
          </p:nvSpPr>
          <p:spPr>
            <a:xfrm>
              <a:off x="218769" y="2438400"/>
              <a:ext cx="3131996" cy="3131996"/>
            </a:xfrm>
            <a:prstGeom prst="ellipse">
              <a:avLst/>
            </a:prstGeom>
            <a:gradFill>
              <a:gsLst>
                <a:gs pos="0">
                  <a:srgbClr val="7CEFD8"/>
                </a:gs>
                <a:gs pos="7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grpSp>
          <p:nvGrpSpPr>
            <p:cNvPr id="24" name="Группа 23">
              <a:extLst>
                <a:ext uri="{FF2B5EF4-FFF2-40B4-BE49-F238E27FC236}">
                  <a16:creationId xmlns:a16="http://schemas.microsoft.com/office/drawing/2014/main" id="{182ED547-BB7E-4187-9E8C-EA8699D2D1A2}"/>
                </a:ext>
              </a:extLst>
            </p:cNvPr>
            <p:cNvGrpSpPr/>
            <p:nvPr/>
          </p:nvGrpSpPr>
          <p:grpSpPr>
            <a:xfrm>
              <a:off x="524849" y="2442817"/>
              <a:ext cx="2749416" cy="4706488"/>
              <a:chOff x="209099" y="1340526"/>
              <a:chExt cx="3468002" cy="5936574"/>
            </a:xfrm>
          </p:grpSpPr>
          <p:sp>
            <p:nvSpPr>
              <p:cNvPr id="9" name="Полилиния 5">
                <a:extLst>
                  <a:ext uri="{FF2B5EF4-FFF2-40B4-BE49-F238E27FC236}">
                    <a16:creationId xmlns:a16="http://schemas.microsoft.com/office/drawing/2014/main" id="{C8571C14-2F27-4E34-B686-6E2CDCF3BA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6528" y="3310241"/>
                <a:ext cx="1340572" cy="1498286"/>
              </a:xfrm>
              <a:custGeom>
                <a:avLst/>
                <a:gdLst>
                  <a:gd name="T0" fmla="*/ 210 w 502"/>
                  <a:gd name="T1" fmla="*/ 73 h 562"/>
                  <a:gd name="T2" fmla="*/ 463 w 502"/>
                  <a:gd name="T3" fmla="*/ 365 h 562"/>
                  <a:gd name="T4" fmla="*/ 463 w 502"/>
                  <a:gd name="T5" fmla="*/ 549 h 562"/>
                  <a:gd name="T6" fmla="*/ 81 w 502"/>
                  <a:gd name="T7" fmla="*/ 311 h 562"/>
                  <a:gd name="T8" fmla="*/ 48 w 502"/>
                  <a:gd name="T9" fmla="*/ 5 h 562"/>
                  <a:gd name="T10" fmla="*/ 210 w 502"/>
                  <a:gd name="T11" fmla="*/ 73 h 5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02" h="562">
                    <a:moveTo>
                      <a:pt x="210" y="73"/>
                    </a:moveTo>
                    <a:cubicBezTo>
                      <a:pt x="210" y="73"/>
                      <a:pt x="450" y="325"/>
                      <a:pt x="463" y="365"/>
                    </a:cubicBezTo>
                    <a:cubicBezTo>
                      <a:pt x="475" y="405"/>
                      <a:pt x="502" y="535"/>
                      <a:pt x="463" y="549"/>
                    </a:cubicBezTo>
                    <a:cubicBezTo>
                      <a:pt x="423" y="562"/>
                      <a:pt x="161" y="540"/>
                      <a:pt x="81" y="311"/>
                    </a:cubicBezTo>
                    <a:cubicBezTo>
                      <a:pt x="0" y="81"/>
                      <a:pt x="30" y="9"/>
                      <a:pt x="48" y="5"/>
                    </a:cubicBezTo>
                    <a:cubicBezTo>
                      <a:pt x="66" y="0"/>
                      <a:pt x="157" y="17"/>
                      <a:pt x="210" y="73"/>
                    </a:cubicBezTo>
                    <a:close/>
                  </a:path>
                </a:pathLst>
              </a:custGeom>
              <a:gradFill>
                <a:gsLst>
                  <a:gs pos="0">
                    <a:srgbClr val="7D4BC9"/>
                  </a:gs>
                  <a:gs pos="78000">
                    <a:srgbClr val="16286E"/>
                  </a:gs>
                </a:gsLst>
                <a:lin ang="540000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ru-RU" dirty="0"/>
              </a:p>
            </p:txBody>
          </p:sp>
          <p:sp>
            <p:nvSpPr>
              <p:cNvPr id="10" name="Полилиния 6">
                <a:extLst>
                  <a:ext uri="{FF2B5EF4-FFF2-40B4-BE49-F238E27FC236}">
                    <a16:creationId xmlns:a16="http://schemas.microsoft.com/office/drawing/2014/main" id="{600A3A6C-7791-471C-A365-60A8E27824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814" y="1340526"/>
                <a:ext cx="1248001" cy="2249144"/>
              </a:xfrm>
              <a:custGeom>
                <a:avLst/>
                <a:gdLst>
                  <a:gd name="T0" fmla="*/ 413 w 467"/>
                  <a:gd name="T1" fmla="*/ 409 h 844"/>
                  <a:gd name="T2" fmla="*/ 420 w 467"/>
                  <a:gd name="T3" fmla="*/ 446 h 844"/>
                  <a:gd name="T4" fmla="*/ 410 w 467"/>
                  <a:gd name="T5" fmla="*/ 586 h 844"/>
                  <a:gd name="T6" fmla="*/ 431 w 467"/>
                  <a:gd name="T7" fmla="*/ 664 h 844"/>
                  <a:gd name="T8" fmla="*/ 371 w 467"/>
                  <a:gd name="T9" fmla="*/ 820 h 844"/>
                  <a:gd name="T10" fmla="*/ 99 w 467"/>
                  <a:gd name="T11" fmla="*/ 595 h 844"/>
                  <a:gd name="T12" fmla="*/ 87 w 467"/>
                  <a:gd name="T13" fmla="*/ 476 h 844"/>
                  <a:gd name="T14" fmla="*/ 87 w 467"/>
                  <a:gd name="T15" fmla="*/ 475 h 844"/>
                  <a:gd name="T16" fmla="*/ 93 w 467"/>
                  <a:gd name="T17" fmla="*/ 438 h 844"/>
                  <a:gd name="T18" fmla="*/ 0 w 467"/>
                  <a:gd name="T19" fmla="*/ 380 h 844"/>
                  <a:gd name="T20" fmla="*/ 39 w 467"/>
                  <a:gd name="T21" fmla="*/ 228 h 844"/>
                  <a:gd name="T22" fmla="*/ 62 w 467"/>
                  <a:gd name="T23" fmla="*/ 98 h 844"/>
                  <a:gd name="T24" fmla="*/ 31 w 467"/>
                  <a:gd name="T25" fmla="*/ 98 h 844"/>
                  <a:gd name="T26" fmla="*/ 146 w 467"/>
                  <a:gd name="T27" fmla="*/ 4 h 844"/>
                  <a:gd name="T28" fmla="*/ 205 w 467"/>
                  <a:gd name="T29" fmla="*/ 14 h 844"/>
                  <a:gd name="T30" fmla="*/ 297 w 467"/>
                  <a:gd name="T31" fmla="*/ 15 h 844"/>
                  <a:gd name="T32" fmla="*/ 413 w 467"/>
                  <a:gd name="T33" fmla="*/ 49 h 844"/>
                  <a:gd name="T34" fmla="*/ 422 w 467"/>
                  <a:gd name="T35" fmla="*/ 72 h 844"/>
                  <a:gd name="T36" fmla="*/ 424 w 467"/>
                  <a:gd name="T37" fmla="*/ 86 h 844"/>
                  <a:gd name="T38" fmla="*/ 410 w 467"/>
                  <a:gd name="T39" fmla="*/ 124 h 844"/>
                  <a:gd name="T40" fmla="*/ 432 w 467"/>
                  <a:gd name="T41" fmla="*/ 249 h 844"/>
                  <a:gd name="T42" fmla="*/ 446 w 467"/>
                  <a:gd name="T43" fmla="*/ 374 h 844"/>
                  <a:gd name="T44" fmla="*/ 446 w 467"/>
                  <a:gd name="T45" fmla="*/ 409 h 844"/>
                  <a:gd name="T46" fmla="*/ 413 w 467"/>
                  <a:gd name="T47" fmla="*/ 409 h 8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67" h="844">
                    <a:moveTo>
                      <a:pt x="413" y="409"/>
                    </a:moveTo>
                    <a:cubicBezTo>
                      <a:pt x="413" y="409"/>
                      <a:pt x="425" y="426"/>
                      <a:pt x="420" y="446"/>
                    </a:cubicBezTo>
                    <a:cubicBezTo>
                      <a:pt x="415" y="465"/>
                      <a:pt x="385" y="526"/>
                      <a:pt x="410" y="586"/>
                    </a:cubicBezTo>
                    <a:cubicBezTo>
                      <a:pt x="418" y="605"/>
                      <a:pt x="427" y="633"/>
                      <a:pt x="431" y="664"/>
                    </a:cubicBezTo>
                    <a:cubicBezTo>
                      <a:pt x="441" y="728"/>
                      <a:pt x="433" y="803"/>
                      <a:pt x="371" y="820"/>
                    </a:cubicBezTo>
                    <a:cubicBezTo>
                      <a:pt x="280" y="844"/>
                      <a:pt x="123" y="754"/>
                      <a:pt x="99" y="595"/>
                    </a:cubicBezTo>
                    <a:cubicBezTo>
                      <a:pt x="91" y="536"/>
                      <a:pt x="87" y="499"/>
                      <a:pt x="87" y="476"/>
                    </a:cubicBezTo>
                    <a:cubicBezTo>
                      <a:pt x="87" y="475"/>
                      <a:pt x="87" y="475"/>
                      <a:pt x="87" y="475"/>
                    </a:cubicBezTo>
                    <a:cubicBezTo>
                      <a:pt x="86" y="437"/>
                      <a:pt x="93" y="438"/>
                      <a:pt x="93" y="438"/>
                    </a:cubicBezTo>
                    <a:cubicBezTo>
                      <a:pt x="0" y="380"/>
                      <a:pt x="0" y="380"/>
                      <a:pt x="0" y="380"/>
                    </a:cubicBezTo>
                    <a:cubicBezTo>
                      <a:pt x="0" y="380"/>
                      <a:pt x="42" y="270"/>
                      <a:pt x="39" y="228"/>
                    </a:cubicBezTo>
                    <a:cubicBezTo>
                      <a:pt x="36" y="186"/>
                      <a:pt x="19" y="171"/>
                      <a:pt x="62" y="98"/>
                    </a:cubicBezTo>
                    <a:cubicBezTo>
                      <a:pt x="31" y="98"/>
                      <a:pt x="31" y="98"/>
                      <a:pt x="31" y="98"/>
                    </a:cubicBezTo>
                    <a:cubicBezTo>
                      <a:pt x="31" y="98"/>
                      <a:pt x="46" y="13"/>
                      <a:pt x="146" y="4"/>
                    </a:cubicBezTo>
                    <a:cubicBezTo>
                      <a:pt x="146" y="4"/>
                      <a:pt x="177" y="0"/>
                      <a:pt x="205" y="14"/>
                    </a:cubicBezTo>
                    <a:cubicBezTo>
                      <a:pt x="232" y="28"/>
                      <a:pt x="262" y="22"/>
                      <a:pt x="297" y="15"/>
                    </a:cubicBezTo>
                    <a:cubicBezTo>
                      <a:pt x="332" y="8"/>
                      <a:pt x="393" y="16"/>
                      <a:pt x="413" y="49"/>
                    </a:cubicBezTo>
                    <a:cubicBezTo>
                      <a:pt x="417" y="57"/>
                      <a:pt x="421" y="65"/>
                      <a:pt x="422" y="72"/>
                    </a:cubicBezTo>
                    <a:cubicBezTo>
                      <a:pt x="423" y="77"/>
                      <a:pt x="424" y="82"/>
                      <a:pt x="424" y="86"/>
                    </a:cubicBezTo>
                    <a:cubicBezTo>
                      <a:pt x="425" y="104"/>
                      <a:pt x="418" y="118"/>
                      <a:pt x="410" y="124"/>
                    </a:cubicBezTo>
                    <a:cubicBezTo>
                      <a:pt x="410" y="124"/>
                      <a:pt x="444" y="197"/>
                      <a:pt x="432" y="249"/>
                    </a:cubicBezTo>
                    <a:cubicBezTo>
                      <a:pt x="419" y="300"/>
                      <a:pt x="412" y="315"/>
                      <a:pt x="446" y="374"/>
                    </a:cubicBezTo>
                    <a:cubicBezTo>
                      <a:pt x="446" y="374"/>
                      <a:pt x="467" y="389"/>
                      <a:pt x="446" y="409"/>
                    </a:cubicBezTo>
                    <a:cubicBezTo>
                      <a:pt x="446" y="409"/>
                      <a:pt x="436" y="417"/>
                      <a:pt x="413" y="40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ru-RU" dirty="0"/>
              </a:p>
            </p:txBody>
          </p:sp>
          <p:sp>
            <p:nvSpPr>
              <p:cNvPr id="11" name="Полилиния 7">
                <a:extLst>
                  <a:ext uri="{FF2B5EF4-FFF2-40B4-BE49-F238E27FC236}">
                    <a16:creationId xmlns:a16="http://schemas.microsoft.com/office/drawing/2014/main" id="{84D147E2-C5A1-44B2-801C-2CD2E345CE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6242" y="1340526"/>
                <a:ext cx="1081715" cy="608572"/>
              </a:xfrm>
              <a:custGeom>
                <a:avLst/>
                <a:gdLst>
                  <a:gd name="T0" fmla="*/ 405 w 405"/>
                  <a:gd name="T1" fmla="*/ 86 h 228"/>
                  <a:gd name="T2" fmla="*/ 178 w 405"/>
                  <a:gd name="T3" fmla="*/ 98 h 228"/>
                  <a:gd name="T4" fmla="*/ 114 w 405"/>
                  <a:gd name="T5" fmla="*/ 186 h 228"/>
                  <a:gd name="T6" fmla="*/ 20 w 405"/>
                  <a:gd name="T7" fmla="*/ 228 h 228"/>
                  <a:gd name="T8" fmla="*/ 43 w 405"/>
                  <a:gd name="T9" fmla="*/ 98 h 228"/>
                  <a:gd name="T10" fmla="*/ 12 w 405"/>
                  <a:gd name="T11" fmla="*/ 98 h 228"/>
                  <a:gd name="T12" fmla="*/ 127 w 405"/>
                  <a:gd name="T13" fmla="*/ 4 h 228"/>
                  <a:gd name="T14" fmla="*/ 186 w 405"/>
                  <a:gd name="T15" fmla="*/ 14 h 228"/>
                  <a:gd name="T16" fmla="*/ 278 w 405"/>
                  <a:gd name="T17" fmla="*/ 15 h 228"/>
                  <a:gd name="T18" fmla="*/ 394 w 405"/>
                  <a:gd name="T19" fmla="*/ 49 h 228"/>
                  <a:gd name="T20" fmla="*/ 403 w 405"/>
                  <a:gd name="T21" fmla="*/ 72 h 228"/>
                  <a:gd name="T22" fmla="*/ 405 w 405"/>
                  <a:gd name="T23" fmla="*/ 86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05" h="228">
                    <a:moveTo>
                      <a:pt x="405" y="86"/>
                    </a:moveTo>
                    <a:cubicBezTo>
                      <a:pt x="358" y="84"/>
                      <a:pt x="287" y="87"/>
                      <a:pt x="178" y="98"/>
                    </a:cubicBezTo>
                    <a:cubicBezTo>
                      <a:pt x="178" y="98"/>
                      <a:pt x="118" y="122"/>
                      <a:pt x="114" y="186"/>
                    </a:cubicBezTo>
                    <a:cubicBezTo>
                      <a:pt x="114" y="186"/>
                      <a:pt x="61" y="157"/>
                      <a:pt x="20" y="228"/>
                    </a:cubicBezTo>
                    <a:cubicBezTo>
                      <a:pt x="17" y="186"/>
                      <a:pt x="0" y="171"/>
                      <a:pt x="43" y="98"/>
                    </a:cubicBezTo>
                    <a:cubicBezTo>
                      <a:pt x="12" y="98"/>
                      <a:pt x="12" y="98"/>
                      <a:pt x="12" y="98"/>
                    </a:cubicBezTo>
                    <a:cubicBezTo>
                      <a:pt x="12" y="98"/>
                      <a:pt x="27" y="13"/>
                      <a:pt x="127" y="4"/>
                    </a:cubicBezTo>
                    <a:cubicBezTo>
                      <a:pt x="127" y="4"/>
                      <a:pt x="158" y="0"/>
                      <a:pt x="186" y="14"/>
                    </a:cubicBezTo>
                    <a:cubicBezTo>
                      <a:pt x="213" y="28"/>
                      <a:pt x="243" y="22"/>
                      <a:pt x="278" y="15"/>
                    </a:cubicBezTo>
                    <a:cubicBezTo>
                      <a:pt x="313" y="8"/>
                      <a:pt x="374" y="16"/>
                      <a:pt x="394" y="49"/>
                    </a:cubicBezTo>
                    <a:cubicBezTo>
                      <a:pt x="398" y="57"/>
                      <a:pt x="402" y="65"/>
                      <a:pt x="403" y="72"/>
                    </a:cubicBezTo>
                    <a:cubicBezTo>
                      <a:pt x="404" y="77"/>
                      <a:pt x="405" y="82"/>
                      <a:pt x="405" y="86"/>
                    </a:cubicBezTo>
                    <a:close/>
                  </a:path>
                </a:pathLst>
              </a:custGeom>
              <a:gradFill>
                <a:gsLst>
                  <a:gs pos="0">
                    <a:srgbClr val="6524DE"/>
                  </a:gs>
                  <a:gs pos="76000">
                    <a:srgbClr val="6524DE">
                      <a:alpha val="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ru-RU" dirty="0"/>
              </a:p>
            </p:txBody>
          </p:sp>
          <p:sp>
            <p:nvSpPr>
              <p:cNvPr id="12" name="Полилиния 8">
                <a:extLst>
                  <a:ext uri="{FF2B5EF4-FFF2-40B4-BE49-F238E27FC236}">
                    <a16:creationId xmlns:a16="http://schemas.microsoft.com/office/drawing/2014/main" id="{8C4DC2FE-B668-467A-B05D-874A8610D3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3386" y="1422812"/>
                <a:ext cx="699429" cy="1808573"/>
              </a:xfrm>
              <a:custGeom>
                <a:avLst/>
                <a:gdLst>
                  <a:gd name="T0" fmla="*/ 208 w 262"/>
                  <a:gd name="T1" fmla="*/ 378 h 678"/>
                  <a:gd name="T2" fmla="*/ 215 w 262"/>
                  <a:gd name="T3" fmla="*/ 415 h 678"/>
                  <a:gd name="T4" fmla="*/ 205 w 262"/>
                  <a:gd name="T5" fmla="*/ 555 h 678"/>
                  <a:gd name="T6" fmla="*/ 226 w 262"/>
                  <a:gd name="T7" fmla="*/ 633 h 678"/>
                  <a:gd name="T8" fmla="*/ 92 w 262"/>
                  <a:gd name="T9" fmla="*/ 411 h 678"/>
                  <a:gd name="T10" fmla="*/ 45 w 262"/>
                  <a:gd name="T11" fmla="*/ 280 h 678"/>
                  <a:gd name="T12" fmla="*/ 23 w 262"/>
                  <a:gd name="T13" fmla="*/ 165 h 678"/>
                  <a:gd name="T14" fmla="*/ 56 w 262"/>
                  <a:gd name="T15" fmla="*/ 82 h 678"/>
                  <a:gd name="T16" fmla="*/ 180 w 262"/>
                  <a:gd name="T17" fmla="*/ 33 h 678"/>
                  <a:gd name="T18" fmla="*/ 217 w 262"/>
                  <a:gd name="T19" fmla="*/ 41 h 678"/>
                  <a:gd name="T20" fmla="*/ 205 w 262"/>
                  <a:gd name="T21" fmla="*/ 93 h 678"/>
                  <a:gd name="T22" fmla="*/ 227 w 262"/>
                  <a:gd name="T23" fmla="*/ 218 h 678"/>
                  <a:gd name="T24" fmla="*/ 241 w 262"/>
                  <a:gd name="T25" fmla="*/ 343 h 678"/>
                  <a:gd name="T26" fmla="*/ 241 w 262"/>
                  <a:gd name="T27" fmla="*/ 378 h 678"/>
                  <a:gd name="T28" fmla="*/ 208 w 262"/>
                  <a:gd name="T29" fmla="*/ 378 h 6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62" h="678">
                    <a:moveTo>
                      <a:pt x="208" y="378"/>
                    </a:moveTo>
                    <a:cubicBezTo>
                      <a:pt x="208" y="378"/>
                      <a:pt x="220" y="395"/>
                      <a:pt x="215" y="415"/>
                    </a:cubicBezTo>
                    <a:cubicBezTo>
                      <a:pt x="210" y="434"/>
                      <a:pt x="180" y="495"/>
                      <a:pt x="205" y="555"/>
                    </a:cubicBezTo>
                    <a:cubicBezTo>
                      <a:pt x="213" y="574"/>
                      <a:pt x="222" y="602"/>
                      <a:pt x="226" y="633"/>
                    </a:cubicBezTo>
                    <a:cubicBezTo>
                      <a:pt x="146" y="678"/>
                      <a:pt x="100" y="440"/>
                      <a:pt x="92" y="411"/>
                    </a:cubicBezTo>
                    <a:cubicBezTo>
                      <a:pt x="85" y="382"/>
                      <a:pt x="35" y="333"/>
                      <a:pt x="45" y="280"/>
                    </a:cubicBezTo>
                    <a:cubicBezTo>
                      <a:pt x="56" y="227"/>
                      <a:pt x="45" y="218"/>
                      <a:pt x="23" y="165"/>
                    </a:cubicBezTo>
                    <a:cubicBezTo>
                      <a:pt x="0" y="113"/>
                      <a:pt x="56" y="82"/>
                      <a:pt x="56" y="82"/>
                    </a:cubicBezTo>
                    <a:cubicBezTo>
                      <a:pt x="107" y="0"/>
                      <a:pt x="158" y="34"/>
                      <a:pt x="180" y="33"/>
                    </a:cubicBezTo>
                    <a:cubicBezTo>
                      <a:pt x="186" y="33"/>
                      <a:pt x="200" y="35"/>
                      <a:pt x="217" y="41"/>
                    </a:cubicBezTo>
                    <a:cubicBezTo>
                      <a:pt x="223" y="65"/>
                      <a:pt x="216" y="85"/>
                      <a:pt x="205" y="93"/>
                    </a:cubicBezTo>
                    <a:cubicBezTo>
                      <a:pt x="205" y="93"/>
                      <a:pt x="239" y="166"/>
                      <a:pt x="227" y="218"/>
                    </a:cubicBezTo>
                    <a:cubicBezTo>
                      <a:pt x="214" y="269"/>
                      <a:pt x="207" y="284"/>
                      <a:pt x="241" y="343"/>
                    </a:cubicBezTo>
                    <a:cubicBezTo>
                      <a:pt x="241" y="343"/>
                      <a:pt x="262" y="358"/>
                      <a:pt x="241" y="378"/>
                    </a:cubicBezTo>
                    <a:cubicBezTo>
                      <a:pt x="241" y="378"/>
                      <a:pt x="231" y="386"/>
                      <a:pt x="208" y="378"/>
                    </a:cubicBezTo>
                    <a:close/>
                  </a:path>
                </a:pathLst>
              </a:custGeom>
              <a:solidFill>
                <a:srgbClr val="1500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ru-RU" dirty="0"/>
              </a:p>
            </p:txBody>
          </p:sp>
          <p:sp>
            <p:nvSpPr>
              <p:cNvPr id="13" name="Полилиния 9">
                <a:extLst>
                  <a:ext uri="{FF2B5EF4-FFF2-40B4-BE49-F238E27FC236}">
                    <a16:creationId xmlns:a16="http://schemas.microsoft.com/office/drawing/2014/main" id="{B5D4840E-C693-4B8E-86D8-E3E73CEB42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099" y="2329669"/>
                <a:ext cx="2883430" cy="4947431"/>
              </a:xfrm>
              <a:custGeom>
                <a:avLst/>
                <a:gdLst>
                  <a:gd name="T0" fmla="*/ 904 w 1079"/>
                  <a:gd name="T1" fmla="*/ 1856 h 1856"/>
                  <a:gd name="T2" fmla="*/ 136 w 1079"/>
                  <a:gd name="T3" fmla="*/ 1856 h 1856"/>
                  <a:gd name="T4" fmla="*/ 116 w 1079"/>
                  <a:gd name="T5" fmla="*/ 962 h 1856"/>
                  <a:gd name="T6" fmla="*/ 449 w 1079"/>
                  <a:gd name="T7" fmla="*/ 104 h 1856"/>
                  <a:gd name="T8" fmla="*/ 497 w 1079"/>
                  <a:gd name="T9" fmla="*/ 30 h 1856"/>
                  <a:gd name="T10" fmla="*/ 526 w 1079"/>
                  <a:gd name="T11" fmla="*/ 9 h 1856"/>
                  <a:gd name="T12" fmla="*/ 753 w 1079"/>
                  <a:gd name="T13" fmla="*/ 150 h 1856"/>
                  <a:gd name="T14" fmla="*/ 823 w 1079"/>
                  <a:gd name="T15" fmla="*/ 312 h 1856"/>
                  <a:gd name="T16" fmla="*/ 904 w 1079"/>
                  <a:gd name="T17" fmla="*/ 1856 h 18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79" h="1856">
                    <a:moveTo>
                      <a:pt x="904" y="1856"/>
                    </a:moveTo>
                    <a:cubicBezTo>
                      <a:pt x="136" y="1856"/>
                      <a:pt x="136" y="1856"/>
                      <a:pt x="136" y="1856"/>
                    </a:cubicBezTo>
                    <a:cubicBezTo>
                      <a:pt x="125" y="1546"/>
                      <a:pt x="232" y="1684"/>
                      <a:pt x="116" y="962"/>
                    </a:cubicBezTo>
                    <a:cubicBezTo>
                      <a:pt x="0" y="241"/>
                      <a:pt x="449" y="104"/>
                      <a:pt x="449" y="104"/>
                    </a:cubicBezTo>
                    <a:cubicBezTo>
                      <a:pt x="449" y="104"/>
                      <a:pt x="481" y="60"/>
                      <a:pt x="497" y="30"/>
                    </a:cubicBezTo>
                    <a:cubicBezTo>
                      <a:pt x="512" y="0"/>
                      <a:pt x="526" y="9"/>
                      <a:pt x="526" y="9"/>
                    </a:cubicBezTo>
                    <a:cubicBezTo>
                      <a:pt x="753" y="150"/>
                      <a:pt x="753" y="150"/>
                      <a:pt x="753" y="150"/>
                    </a:cubicBezTo>
                    <a:cubicBezTo>
                      <a:pt x="780" y="202"/>
                      <a:pt x="803" y="257"/>
                      <a:pt x="823" y="312"/>
                    </a:cubicBezTo>
                    <a:cubicBezTo>
                      <a:pt x="1079" y="1007"/>
                      <a:pt x="904" y="1856"/>
                      <a:pt x="904" y="1856"/>
                    </a:cubicBezTo>
                    <a:close/>
                  </a:path>
                </a:pathLst>
              </a:custGeom>
              <a:gradFill>
                <a:gsLst>
                  <a:gs pos="0">
                    <a:srgbClr val="7D4BC9"/>
                  </a:gs>
                  <a:gs pos="78000">
                    <a:srgbClr val="16286E"/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ru-RU" dirty="0"/>
              </a:p>
            </p:txBody>
          </p:sp>
          <p:sp>
            <p:nvSpPr>
              <p:cNvPr id="14" name="Полилиния 10">
                <a:extLst>
                  <a:ext uri="{FF2B5EF4-FFF2-40B4-BE49-F238E27FC236}">
                    <a16:creationId xmlns:a16="http://schemas.microsoft.com/office/drawing/2014/main" id="{F1A3E269-0320-4431-A8DF-43BC01E3D9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9100" y="2329669"/>
                <a:ext cx="999430" cy="836572"/>
              </a:xfrm>
              <a:custGeom>
                <a:avLst/>
                <a:gdLst>
                  <a:gd name="T0" fmla="*/ 374 w 374"/>
                  <a:gd name="T1" fmla="*/ 312 h 314"/>
                  <a:gd name="T2" fmla="*/ 0 w 374"/>
                  <a:gd name="T3" fmla="*/ 104 h 314"/>
                  <a:gd name="T4" fmla="*/ 48 w 374"/>
                  <a:gd name="T5" fmla="*/ 30 h 314"/>
                  <a:gd name="T6" fmla="*/ 77 w 374"/>
                  <a:gd name="T7" fmla="*/ 9 h 314"/>
                  <a:gd name="T8" fmla="*/ 304 w 374"/>
                  <a:gd name="T9" fmla="*/ 150 h 314"/>
                  <a:gd name="T10" fmla="*/ 374 w 374"/>
                  <a:gd name="T11" fmla="*/ 312 h 3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4" h="314">
                    <a:moveTo>
                      <a:pt x="374" y="312"/>
                    </a:moveTo>
                    <a:cubicBezTo>
                      <a:pt x="222" y="314"/>
                      <a:pt x="0" y="104"/>
                      <a:pt x="0" y="104"/>
                    </a:cubicBezTo>
                    <a:cubicBezTo>
                      <a:pt x="0" y="104"/>
                      <a:pt x="32" y="60"/>
                      <a:pt x="48" y="30"/>
                    </a:cubicBezTo>
                    <a:cubicBezTo>
                      <a:pt x="63" y="0"/>
                      <a:pt x="77" y="9"/>
                      <a:pt x="77" y="9"/>
                    </a:cubicBezTo>
                    <a:cubicBezTo>
                      <a:pt x="304" y="150"/>
                      <a:pt x="304" y="150"/>
                      <a:pt x="304" y="150"/>
                    </a:cubicBezTo>
                    <a:cubicBezTo>
                      <a:pt x="331" y="202"/>
                      <a:pt x="354" y="257"/>
                      <a:pt x="374" y="312"/>
                    </a:cubicBezTo>
                    <a:close/>
                  </a:path>
                </a:pathLst>
              </a:custGeom>
              <a:gradFill>
                <a:gsLst>
                  <a:gs pos="0">
                    <a:srgbClr val="7D4BC9"/>
                  </a:gs>
                  <a:gs pos="100000">
                    <a:srgbClr val="16286E"/>
                  </a:gs>
                </a:gsLst>
                <a:lin ang="5400000" scaled="0"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ru-RU" dirty="0"/>
              </a:p>
            </p:txBody>
          </p:sp>
          <p:sp>
            <p:nvSpPr>
              <p:cNvPr id="15" name="Полилиния 11">
                <a:extLst>
                  <a:ext uri="{FF2B5EF4-FFF2-40B4-BE49-F238E27FC236}">
                    <a16:creationId xmlns:a16="http://schemas.microsoft.com/office/drawing/2014/main" id="{68F90B1C-A4BC-499A-A3A8-6F83BFC7C3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3385" y="1835954"/>
                <a:ext cx="258858" cy="378858"/>
              </a:xfrm>
              <a:custGeom>
                <a:avLst/>
                <a:gdLst>
                  <a:gd name="T0" fmla="*/ 75 w 97"/>
                  <a:gd name="T1" fmla="*/ 34 h 142"/>
                  <a:gd name="T2" fmla="*/ 11 w 97"/>
                  <a:gd name="T3" fmla="*/ 66 h 142"/>
                  <a:gd name="T4" fmla="*/ 74 w 97"/>
                  <a:gd name="T5" fmla="*/ 132 h 142"/>
                  <a:gd name="T6" fmla="*/ 75 w 97"/>
                  <a:gd name="T7" fmla="*/ 34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7" h="142">
                    <a:moveTo>
                      <a:pt x="75" y="34"/>
                    </a:moveTo>
                    <a:cubicBezTo>
                      <a:pt x="75" y="34"/>
                      <a:pt x="22" y="0"/>
                      <a:pt x="11" y="66"/>
                    </a:cubicBezTo>
                    <a:cubicBezTo>
                      <a:pt x="0" y="132"/>
                      <a:pt x="59" y="142"/>
                      <a:pt x="74" y="132"/>
                    </a:cubicBezTo>
                    <a:cubicBezTo>
                      <a:pt x="74" y="132"/>
                      <a:pt x="97" y="82"/>
                      <a:pt x="75" y="34"/>
                    </a:cubicBezTo>
                    <a:close/>
                  </a:path>
                </a:pathLst>
              </a:custGeom>
              <a:solidFill>
                <a:srgbClr val="1500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ru-RU" dirty="0"/>
              </a:p>
            </p:txBody>
          </p:sp>
          <p:sp>
            <p:nvSpPr>
              <p:cNvPr id="16" name="Полилиния 12">
                <a:extLst>
                  <a:ext uri="{FF2B5EF4-FFF2-40B4-BE49-F238E27FC236}">
                    <a16:creationId xmlns:a16="http://schemas.microsoft.com/office/drawing/2014/main" id="{0870DA8A-4FAB-4AF9-8E9C-77B8A63093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1962" y="1895956"/>
                <a:ext cx="1001144" cy="1693715"/>
              </a:xfrm>
              <a:custGeom>
                <a:avLst/>
                <a:gdLst>
                  <a:gd name="T0" fmla="*/ 284 w 375"/>
                  <a:gd name="T1" fmla="*/ 612 h 636"/>
                  <a:gd name="T2" fmla="*/ 12 w 375"/>
                  <a:gd name="T3" fmla="*/ 387 h 636"/>
                  <a:gd name="T4" fmla="*/ 0 w 375"/>
                  <a:gd name="T5" fmla="*/ 268 h 636"/>
                  <a:gd name="T6" fmla="*/ 0 w 375"/>
                  <a:gd name="T7" fmla="*/ 267 h 636"/>
                  <a:gd name="T8" fmla="*/ 6 w 375"/>
                  <a:gd name="T9" fmla="*/ 230 h 636"/>
                  <a:gd name="T10" fmla="*/ 36 w 375"/>
                  <a:gd name="T11" fmla="*/ 12 h 636"/>
                  <a:gd name="T12" fmla="*/ 64 w 375"/>
                  <a:gd name="T13" fmla="*/ 62 h 636"/>
                  <a:gd name="T14" fmla="*/ 173 w 375"/>
                  <a:gd name="T15" fmla="*/ 216 h 636"/>
                  <a:gd name="T16" fmla="*/ 226 w 375"/>
                  <a:gd name="T17" fmla="*/ 205 h 636"/>
                  <a:gd name="T18" fmla="*/ 326 w 375"/>
                  <a:gd name="T19" fmla="*/ 201 h 636"/>
                  <a:gd name="T20" fmla="*/ 333 w 375"/>
                  <a:gd name="T21" fmla="*/ 238 h 636"/>
                  <a:gd name="T22" fmla="*/ 323 w 375"/>
                  <a:gd name="T23" fmla="*/ 378 h 636"/>
                  <a:gd name="T24" fmla="*/ 284 w 375"/>
                  <a:gd name="T25" fmla="*/ 612 h 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5" h="636">
                    <a:moveTo>
                      <a:pt x="284" y="612"/>
                    </a:moveTo>
                    <a:cubicBezTo>
                      <a:pt x="193" y="636"/>
                      <a:pt x="36" y="546"/>
                      <a:pt x="12" y="387"/>
                    </a:cubicBezTo>
                    <a:cubicBezTo>
                      <a:pt x="4" y="328"/>
                      <a:pt x="0" y="291"/>
                      <a:pt x="0" y="268"/>
                    </a:cubicBezTo>
                    <a:cubicBezTo>
                      <a:pt x="0" y="267"/>
                      <a:pt x="0" y="267"/>
                      <a:pt x="0" y="267"/>
                    </a:cubicBezTo>
                    <a:cubicBezTo>
                      <a:pt x="2" y="249"/>
                      <a:pt x="4" y="235"/>
                      <a:pt x="6" y="230"/>
                    </a:cubicBezTo>
                    <a:cubicBezTo>
                      <a:pt x="6" y="230"/>
                      <a:pt x="55" y="77"/>
                      <a:pt x="36" y="12"/>
                    </a:cubicBezTo>
                    <a:cubicBezTo>
                      <a:pt x="36" y="12"/>
                      <a:pt x="53" y="0"/>
                      <a:pt x="64" y="62"/>
                    </a:cubicBezTo>
                    <a:cubicBezTo>
                      <a:pt x="74" y="123"/>
                      <a:pt x="134" y="202"/>
                      <a:pt x="173" y="216"/>
                    </a:cubicBezTo>
                    <a:cubicBezTo>
                      <a:pt x="212" y="229"/>
                      <a:pt x="214" y="208"/>
                      <a:pt x="226" y="205"/>
                    </a:cubicBezTo>
                    <a:cubicBezTo>
                      <a:pt x="238" y="204"/>
                      <a:pt x="263" y="178"/>
                      <a:pt x="326" y="201"/>
                    </a:cubicBezTo>
                    <a:cubicBezTo>
                      <a:pt x="326" y="201"/>
                      <a:pt x="338" y="218"/>
                      <a:pt x="333" y="238"/>
                    </a:cubicBezTo>
                    <a:cubicBezTo>
                      <a:pt x="328" y="257"/>
                      <a:pt x="297" y="318"/>
                      <a:pt x="323" y="378"/>
                    </a:cubicBezTo>
                    <a:cubicBezTo>
                      <a:pt x="349" y="437"/>
                      <a:pt x="375" y="587"/>
                      <a:pt x="284" y="612"/>
                    </a:cubicBezTo>
                    <a:close/>
                  </a:path>
                </a:pathLst>
              </a:custGeom>
              <a:gradFill>
                <a:gsLst>
                  <a:gs pos="0">
                    <a:srgbClr val="BB7FFB"/>
                  </a:gs>
                  <a:gs pos="100000">
                    <a:srgbClr val="FB95E9"/>
                  </a:gs>
                </a:gsLst>
                <a:lin ang="5400000" scaled="1"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ru-RU" dirty="0"/>
              </a:p>
            </p:txBody>
          </p:sp>
          <p:sp>
            <p:nvSpPr>
              <p:cNvPr id="17" name="Полилиния 13">
                <a:extLst>
                  <a:ext uri="{FF2B5EF4-FFF2-40B4-BE49-F238E27FC236}">
                    <a16:creationId xmlns:a16="http://schemas.microsoft.com/office/drawing/2014/main" id="{116FA9B5-4461-4B4F-9235-D02206F69B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7100" y="1340526"/>
                <a:ext cx="1071430" cy="330858"/>
              </a:xfrm>
              <a:custGeom>
                <a:avLst/>
                <a:gdLst>
                  <a:gd name="T0" fmla="*/ 379 w 401"/>
                  <a:gd name="T1" fmla="*/ 124 h 124"/>
                  <a:gd name="T2" fmla="*/ 258 w 401"/>
                  <a:gd name="T3" fmla="*/ 113 h 124"/>
                  <a:gd name="T4" fmla="*/ 166 w 401"/>
                  <a:gd name="T5" fmla="*/ 98 h 124"/>
                  <a:gd name="T6" fmla="*/ 0 w 401"/>
                  <a:gd name="T7" fmla="*/ 98 h 124"/>
                  <a:gd name="T8" fmla="*/ 115 w 401"/>
                  <a:gd name="T9" fmla="*/ 4 h 124"/>
                  <a:gd name="T10" fmla="*/ 174 w 401"/>
                  <a:gd name="T11" fmla="*/ 14 h 124"/>
                  <a:gd name="T12" fmla="*/ 266 w 401"/>
                  <a:gd name="T13" fmla="*/ 15 h 124"/>
                  <a:gd name="T14" fmla="*/ 382 w 401"/>
                  <a:gd name="T15" fmla="*/ 49 h 124"/>
                  <a:gd name="T16" fmla="*/ 379 w 401"/>
                  <a:gd name="T17" fmla="*/ 124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01" h="124">
                    <a:moveTo>
                      <a:pt x="379" y="124"/>
                    </a:moveTo>
                    <a:cubicBezTo>
                      <a:pt x="354" y="103"/>
                      <a:pt x="299" y="110"/>
                      <a:pt x="258" y="113"/>
                    </a:cubicBezTo>
                    <a:cubicBezTo>
                      <a:pt x="217" y="117"/>
                      <a:pt x="166" y="98"/>
                      <a:pt x="166" y="98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98"/>
                      <a:pt x="15" y="13"/>
                      <a:pt x="115" y="4"/>
                    </a:cubicBezTo>
                    <a:cubicBezTo>
                      <a:pt x="115" y="4"/>
                      <a:pt x="146" y="0"/>
                      <a:pt x="174" y="14"/>
                    </a:cubicBezTo>
                    <a:cubicBezTo>
                      <a:pt x="201" y="28"/>
                      <a:pt x="231" y="22"/>
                      <a:pt x="266" y="15"/>
                    </a:cubicBezTo>
                    <a:cubicBezTo>
                      <a:pt x="301" y="8"/>
                      <a:pt x="362" y="16"/>
                      <a:pt x="382" y="49"/>
                    </a:cubicBezTo>
                    <a:cubicBezTo>
                      <a:pt x="401" y="81"/>
                      <a:pt x="393" y="114"/>
                      <a:pt x="379" y="124"/>
                    </a:cubicBezTo>
                    <a:close/>
                  </a:path>
                </a:pathLst>
              </a:custGeom>
              <a:gradFill>
                <a:gsLst>
                  <a:gs pos="28000">
                    <a:srgbClr val="6313DC"/>
                  </a:gs>
                  <a:gs pos="100000">
                    <a:srgbClr val="1E3ADA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ru-RU" dirty="0"/>
              </a:p>
            </p:txBody>
          </p:sp>
          <p:sp>
            <p:nvSpPr>
              <p:cNvPr id="18" name="Полилиния 14">
                <a:extLst>
                  <a:ext uri="{FF2B5EF4-FFF2-40B4-BE49-F238E27FC236}">
                    <a16:creationId xmlns:a16="http://schemas.microsoft.com/office/drawing/2014/main" id="{2BF4B088-9F78-4017-BB28-01D01B8E13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0814" y="4258241"/>
                <a:ext cx="761143" cy="908572"/>
              </a:xfrm>
              <a:custGeom>
                <a:avLst/>
                <a:gdLst>
                  <a:gd name="T0" fmla="*/ 265 w 285"/>
                  <a:gd name="T1" fmla="*/ 0 h 341"/>
                  <a:gd name="T2" fmla="*/ 68 w 285"/>
                  <a:gd name="T3" fmla="*/ 96 h 341"/>
                  <a:gd name="T4" fmla="*/ 0 w 285"/>
                  <a:gd name="T5" fmla="*/ 232 h 341"/>
                  <a:gd name="T6" fmla="*/ 3 w 285"/>
                  <a:gd name="T7" fmla="*/ 341 h 341"/>
                  <a:gd name="T8" fmla="*/ 41 w 285"/>
                  <a:gd name="T9" fmla="*/ 303 h 341"/>
                  <a:gd name="T10" fmla="*/ 41 w 285"/>
                  <a:gd name="T11" fmla="*/ 224 h 341"/>
                  <a:gd name="T12" fmla="*/ 93 w 285"/>
                  <a:gd name="T13" fmla="*/ 156 h 341"/>
                  <a:gd name="T14" fmla="*/ 62 w 285"/>
                  <a:gd name="T15" fmla="*/ 256 h 341"/>
                  <a:gd name="T16" fmla="*/ 106 w 285"/>
                  <a:gd name="T17" fmla="*/ 323 h 341"/>
                  <a:gd name="T18" fmla="*/ 117 w 285"/>
                  <a:gd name="T19" fmla="*/ 275 h 341"/>
                  <a:gd name="T20" fmla="*/ 101 w 285"/>
                  <a:gd name="T21" fmla="*/ 237 h 341"/>
                  <a:gd name="T22" fmla="*/ 136 w 285"/>
                  <a:gd name="T23" fmla="*/ 172 h 341"/>
                  <a:gd name="T24" fmla="*/ 133 w 285"/>
                  <a:gd name="T25" fmla="*/ 239 h 341"/>
                  <a:gd name="T26" fmla="*/ 168 w 285"/>
                  <a:gd name="T27" fmla="*/ 301 h 341"/>
                  <a:gd name="T28" fmla="*/ 185 w 285"/>
                  <a:gd name="T29" fmla="*/ 257 h 341"/>
                  <a:gd name="T30" fmla="*/ 180 w 285"/>
                  <a:gd name="T31" fmla="*/ 196 h 341"/>
                  <a:gd name="T32" fmla="*/ 285 w 285"/>
                  <a:gd name="T33" fmla="*/ 100 h 341"/>
                  <a:gd name="T34" fmla="*/ 265 w 285"/>
                  <a:gd name="T35" fmla="*/ 0 h 3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85" h="341">
                    <a:moveTo>
                      <a:pt x="265" y="0"/>
                    </a:moveTo>
                    <a:cubicBezTo>
                      <a:pt x="265" y="0"/>
                      <a:pt x="85" y="79"/>
                      <a:pt x="68" y="96"/>
                    </a:cubicBezTo>
                    <a:cubicBezTo>
                      <a:pt x="51" y="113"/>
                      <a:pt x="0" y="232"/>
                      <a:pt x="0" y="232"/>
                    </a:cubicBezTo>
                    <a:cubicBezTo>
                      <a:pt x="3" y="341"/>
                      <a:pt x="3" y="341"/>
                      <a:pt x="3" y="341"/>
                    </a:cubicBezTo>
                    <a:cubicBezTo>
                      <a:pt x="3" y="341"/>
                      <a:pt x="42" y="329"/>
                      <a:pt x="41" y="303"/>
                    </a:cubicBezTo>
                    <a:cubicBezTo>
                      <a:pt x="39" y="278"/>
                      <a:pt x="35" y="230"/>
                      <a:pt x="41" y="224"/>
                    </a:cubicBezTo>
                    <a:cubicBezTo>
                      <a:pt x="46" y="218"/>
                      <a:pt x="93" y="156"/>
                      <a:pt x="93" y="156"/>
                    </a:cubicBezTo>
                    <a:cubicBezTo>
                      <a:pt x="93" y="156"/>
                      <a:pt x="59" y="250"/>
                      <a:pt x="62" y="256"/>
                    </a:cubicBezTo>
                    <a:cubicBezTo>
                      <a:pt x="64" y="262"/>
                      <a:pt x="106" y="323"/>
                      <a:pt x="106" y="323"/>
                    </a:cubicBezTo>
                    <a:cubicBezTo>
                      <a:pt x="106" y="323"/>
                      <a:pt x="128" y="296"/>
                      <a:pt x="117" y="275"/>
                    </a:cubicBezTo>
                    <a:cubicBezTo>
                      <a:pt x="106" y="255"/>
                      <a:pt x="101" y="237"/>
                      <a:pt x="101" y="237"/>
                    </a:cubicBezTo>
                    <a:cubicBezTo>
                      <a:pt x="136" y="172"/>
                      <a:pt x="136" y="172"/>
                      <a:pt x="136" y="172"/>
                    </a:cubicBezTo>
                    <a:cubicBezTo>
                      <a:pt x="133" y="239"/>
                      <a:pt x="133" y="239"/>
                      <a:pt x="133" y="239"/>
                    </a:cubicBezTo>
                    <a:cubicBezTo>
                      <a:pt x="168" y="301"/>
                      <a:pt x="168" y="301"/>
                      <a:pt x="168" y="301"/>
                    </a:cubicBezTo>
                    <a:cubicBezTo>
                      <a:pt x="168" y="301"/>
                      <a:pt x="197" y="274"/>
                      <a:pt x="185" y="257"/>
                    </a:cubicBezTo>
                    <a:cubicBezTo>
                      <a:pt x="172" y="240"/>
                      <a:pt x="180" y="196"/>
                      <a:pt x="180" y="196"/>
                    </a:cubicBezTo>
                    <a:cubicBezTo>
                      <a:pt x="285" y="100"/>
                      <a:pt x="285" y="100"/>
                      <a:pt x="285" y="100"/>
                    </a:cubicBezTo>
                    <a:lnTo>
                      <a:pt x="2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ru-RU" dirty="0"/>
              </a:p>
            </p:txBody>
          </p:sp>
          <p:sp>
            <p:nvSpPr>
              <p:cNvPr id="19" name="Полилиния 15">
                <a:extLst>
                  <a:ext uri="{FF2B5EF4-FFF2-40B4-BE49-F238E27FC236}">
                    <a16:creationId xmlns:a16="http://schemas.microsoft.com/office/drawing/2014/main" id="{52C1A77F-D0D3-4856-91DD-AD841A9917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9100" y="3680527"/>
                <a:ext cx="387429" cy="685715"/>
              </a:xfrm>
              <a:custGeom>
                <a:avLst/>
                <a:gdLst>
                  <a:gd name="T0" fmla="*/ 21 w 145"/>
                  <a:gd name="T1" fmla="*/ 257 h 257"/>
                  <a:gd name="T2" fmla="*/ 3 w 145"/>
                  <a:gd name="T3" fmla="*/ 120 h 257"/>
                  <a:gd name="T4" fmla="*/ 50 w 145"/>
                  <a:gd name="T5" fmla="*/ 37 h 257"/>
                  <a:gd name="T6" fmla="*/ 108 w 145"/>
                  <a:gd name="T7" fmla="*/ 0 h 257"/>
                  <a:gd name="T8" fmla="*/ 102 w 145"/>
                  <a:gd name="T9" fmla="*/ 33 h 257"/>
                  <a:gd name="T10" fmla="*/ 60 w 145"/>
                  <a:gd name="T11" fmla="*/ 61 h 257"/>
                  <a:gd name="T12" fmla="*/ 43 w 145"/>
                  <a:gd name="T13" fmla="*/ 112 h 257"/>
                  <a:gd name="T14" fmla="*/ 84 w 145"/>
                  <a:gd name="T15" fmla="*/ 60 h 257"/>
                  <a:gd name="T16" fmla="*/ 135 w 145"/>
                  <a:gd name="T17" fmla="*/ 60 h 257"/>
                  <a:gd name="T18" fmla="*/ 114 w 145"/>
                  <a:gd name="T19" fmla="*/ 83 h 257"/>
                  <a:gd name="T20" fmla="*/ 88 w 145"/>
                  <a:gd name="T21" fmla="*/ 88 h 257"/>
                  <a:gd name="T22" fmla="*/ 67 w 145"/>
                  <a:gd name="T23" fmla="*/ 129 h 257"/>
                  <a:gd name="T24" fmla="*/ 100 w 145"/>
                  <a:gd name="T25" fmla="*/ 104 h 257"/>
                  <a:gd name="T26" fmla="*/ 145 w 145"/>
                  <a:gd name="T27" fmla="*/ 100 h 257"/>
                  <a:gd name="T28" fmla="*/ 128 w 145"/>
                  <a:gd name="T29" fmla="*/ 125 h 257"/>
                  <a:gd name="T30" fmla="*/ 94 w 145"/>
                  <a:gd name="T31" fmla="*/ 144 h 257"/>
                  <a:gd name="T32" fmla="*/ 81 w 145"/>
                  <a:gd name="T33" fmla="*/ 232 h 257"/>
                  <a:gd name="T34" fmla="*/ 21 w 145"/>
                  <a:gd name="T35" fmla="*/ 257 h 2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45" h="257">
                    <a:moveTo>
                      <a:pt x="21" y="257"/>
                    </a:moveTo>
                    <a:cubicBezTo>
                      <a:pt x="21" y="257"/>
                      <a:pt x="0" y="134"/>
                      <a:pt x="3" y="120"/>
                    </a:cubicBezTo>
                    <a:cubicBezTo>
                      <a:pt x="6" y="105"/>
                      <a:pt x="50" y="37"/>
                      <a:pt x="50" y="37"/>
                    </a:cubicBezTo>
                    <a:cubicBezTo>
                      <a:pt x="108" y="0"/>
                      <a:pt x="108" y="0"/>
                      <a:pt x="108" y="0"/>
                    </a:cubicBezTo>
                    <a:cubicBezTo>
                      <a:pt x="108" y="0"/>
                      <a:pt x="116" y="25"/>
                      <a:pt x="102" y="33"/>
                    </a:cubicBezTo>
                    <a:cubicBezTo>
                      <a:pt x="88" y="41"/>
                      <a:pt x="61" y="56"/>
                      <a:pt x="60" y="61"/>
                    </a:cubicBezTo>
                    <a:cubicBezTo>
                      <a:pt x="59" y="66"/>
                      <a:pt x="43" y="112"/>
                      <a:pt x="43" y="112"/>
                    </a:cubicBezTo>
                    <a:cubicBezTo>
                      <a:pt x="43" y="112"/>
                      <a:pt x="80" y="61"/>
                      <a:pt x="84" y="60"/>
                    </a:cubicBezTo>
                    <a:cubicBezTo>
                      <a:pt x="89" y="60"/>
                      <a:pt x="135" y="60"/>
                      <a:pt x="135" y="60"/>
                    </a:cubicBezTo>
                    <a:cubicBezTo>
                      <a:pt x="135" y="60"/>
                      <a:pt x="128" y="81"/>
                      <a:pt x="114" y="83"/>
                    </a:cubicBezTo>
                    <a:cubicBezTo>
                      <a:pt x="99" y="84"/>
                      <a:pt x="88" y="88"/>
                      <a:pt x="88" y="88"/>
                    </a:cubicBezTo>
                    <a:cubicBezTo>
                      <a:pt x="67" y="129"/>
                      <a:pt x="67" y="129"/>
                      <a:pt x="67" y="129"/>
                    </a:cubicBezTo>
                    <a:cubicBezTo>
                      <a:pt x="100" y="104"/>
                      <a:pt x="100" y="104"/>
                      <a:pt x="100" y="104"/>
                    </a:cubicBezTo>
                    <a:cubicBezTo>
                      <a:pt x="145" y="100"/>
                      <a:pt x="145" y="100"/>
                      <a:pt x="145" y="100"/>
                    </a:cubicBezTo>
                    <a:cubicBezTo>
                      <a:pt x="145" y="100"/>
                      <a:pt x="141" y="125"/>
                      <a:pt x="128" y="125"/>
                    </a:cubicBezTo>
                    <a:cubicBezTo>
                      <a:pt x="115" y="124"/>
                      <a:pt x="94" y="144"/>
                      <a:pt x="94" y="144"/>
                    </a:cubicBezTo>
                    <a:cubicBezTo>
                      <a:pt x="81" y="232"/>
                      <a:pt x="81" y="232"/>
                      <a:pt x="81" y="232"/>
                    </a:cubicBezTo>
                    <a:lnTo>
                      <a:pt x="21" y="257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ru-RU" dirty="0"/>
              </a:p>
            </p:txBody>
          </p:sp>
          <p:sp>
            <p:nvSpPr>
              <p:cNvPr id="20" name="Полилиния 16">
                <a:extLst>
                  <a:ext uri="{FF2B5EF4-FFF2-40B4-BE49-F238E27FC236}">
                    <a16:creationId xmlns:a16="http://schemas.microsoft.com/office/drawing/2014/main" id="{AF758C60-4BC8-48B0-853B-79E4FE11DEC0}"/>
                  </a:ext>
                </a:extLst>
              </p:cNvPr>
              <p:cNvSpPr>
                <a:spLocks/>
              </p:cNvSpPr>
              <p:nvPr/>
            </p:nvSpPr>
            <p:spPr bwMode="auto">
              <a:xfrm rot="487774">
                <a:off x="2302872" y="4062813"/>
                <a:ext cx="1145143" cy="673715"/>
              </a:xfrm>
              <a:custGeom>
                <a:avLst/>
                <a:gdLst>
                  <a:gd name="T0" fmla="*/ 82 w 428"/>
                  <a:gd name="T1" fmla="*/ 54 h 253"/>
                  <a:gd name="T2" fmla="*/ 282 w 428"/>
                  <a:gd name="T3" fmla="*/ 41 h 253"/>
                  <a:gd name="T4" fmla="*/ 326 w 428"/>
                  <a:gd name="T5" fmla="*/ 235 h 253"/>
                  <a:gd name="T6" fmla="*/ 59 w 428"/>
                  <a:gd name="T7" fmla="*/ 170 h 253"/>
                  <a:gd name="T8" fmla="*/ 82 w 428"/>
                  <a:gd name="T9" fmla="*/ 54 h 2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8" h="253">
                    <a:moveTo>
                      <a:pt x="82" y="54"/>
                    </a:moveTo>
                    <a:cubicBezTo>
                      <a:pt x="82" y="54"/>
                      <a:pt x="169" y="0"/>
                      <a:pt x="282" y="41"/>
                    </a:cubicBezTo>
                    <a:cubicBezTo>
                      <a:pt x="428" y="93"/>
                      <a:pt x="371" y="223"/>
                      <a:pt x="326" y="235"/>
                    </a:cubicBezTo>
                    <a:cubicBezTo>
                      <a:pt x="260" y="253"/>
                      <a:pt x="93" y="170"/>
                      <a:pt x="59" y="170"/>
                    </a:cubicBezTo>
                    <a:cubicBezTo>
                      <a:pt x="25" y="170"/>
                      <a:pt x="0" y="102"/>
                      <a:pt x="82" y="5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ru-RU" dirty="0"/>
              </a:p>
            </p:txBody>
          </p:sp>
          <p:sp>
            <p:nvSpPr>
              <p:cNvPr id="21" name="Полилиния 17">
                <a:extLst>
                  <a:ext uri="{FF2B5EF4-FFF2-40B4-BE49-F238E27FC236}">
                    <a16:creationId xmlns:a16="http://schemas.microsoft.com/office/drawing/2014/main" id="{5402D44F-972F-4278-8406-D3E44C9F1E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385" y="3011955"/>
                <a:ext cx="2713716" cy="2492573"/>
              </a:xfrm>
              <a:custGeom>
                <a:avLst/>
                <a:gdLst>
                  <a:gd name="T0" fmla="*/ 154 w 1016"/>
                  <a:gd name="T1" fmla="*/ 0 h 935"/>
                  <a:gd name="T2" fmla="*/ 461 w 1016"/>
                  <a:gd name="T3" fmla="*/ 248 h 935"/>
                  <a:gd name="T4" fmla="*/ 785 w 1016"/>
                  <a:gd name="T5" fmla="*/ 556 h 935"/>
                  <a:gd name="T6" fmla="*/ 901 w 1016"/>
                  <a:gd name="T7" fmla="*/ 822 h 935"/>
                  <a:gd name="T8" fmla="*/ 331 w 1016"/>
                  <a:gd name="T9" fmla="*/ 781 h 935"/>
                  <a:gd name="T10" fmla="*/ 10 w 1016"/>
                  <a:gd name="T11" fmla="*/ 204 h 935"/>
                  <a:gd name="T12" fmla="*/ 154 w 1016"/>
                  <a:gd name="T13" fmla="*/ 0 h 9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6" h="935">
                    <a:moveTo>
                      <a:pt x="154" y="0"/>
                    </a:moveTo>
                    <a:cubicBezTo>
                      <a:pt x="154" y="0"/>
                      <a:pt x="317" y="11"/>
                      <a:pt x="461" y="248"/>
                    </a:cubicBezTo>
                    <a:cubicBezTo>
                      <a:pt x="604" y="484"/>
                      <a:pt x="785" y="556"/>
                      <a:pt x="785" y="556"/>
                    </a:cubicBezTo>
                    <a:cubicBezTo>
                      <a:pt x="785" y="556"/>
                      <a:pt x="1016" y="720"/>
                      <a:pt x="901" y="822"/>
                    </a:cubicBezTo>
                    <a:cubicBezTo>
                      <a:pt x="787" y="925"/>
                      <a:pt x="485" y="935"/>
                      <a:pt x="331" y="781"/>
                    </a:cubicBezTo>
                    <a:cubicBezTo>
                      <a:pt x="178" y="628"/>
                      <a:pt x="0" y="341"/>
                      <a:pt x="10" y="204"/>
                    </a:cubicBezTo>
                    <a:cubicBezTo>
                      <a:pt x="21" y="68"/>
                      <a:pt x="68" y="10"/>
                      <a:pt x="15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D4BC9"/>
                  </a:gs>
                  <a:gs pos="78000">
                    <a:srgbClr val="16286E"/>
                  </a:gs>
                </a:gsLst>
                <a:lin ang="5400000" scaled="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ru-RU" dirty="0"/>
              </a:p>
            </p:txBody>
          </p:sp>
        </p:grpSp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813F705E-7B0E-4989-B447-76E85BC850C4}"/>
                </a:ext>
              </a:extLst>
            </p:cNvPr>
            <p:cNvSpPr/>
            <p:nvPr/>
          </p:nvSpPr>
          <p:spPr>
            <a:xfrm flipH="1">
              <a:off x="662569" y="2575406"/>
              <a:ext cx="333828" cy="333828"/>
            </a:xfrm>
            <a:prstGeom prst="ellipse">
              <a:avLst/>
            </a:prstGeom>
            <a:gradFill>
              <a:gsLst>
                <a:gs pos="0">
                  <a:srgbClr val="7CEFD8"/>
                </a:gs>
                <a:gs pos="7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" name="Овал 27">
              <a:extLst>
                <a:ext uri="{FF2B5EF4-FFF2-40B4-BE49-F238E27FC236}">
                  <a16:creationId xmlns:a16="http://schemas.microsoft.com/office/drawing/2014/main" id="{1CA7247A-56C4-4D0D-A7EB-5B7C8EDC3148}"/>
                </a:ext>
              </a:extLst>
            </p:cNvPr>
            <p:cNvSpPr/>
            <p:nvPr/>
          </p:nvSpPr>
          <p:spPr>
            <a:xfrm flipH="1">
              <a:off x="3192720" y="5092277"/>
              <a:ext cx="191756" cy="191756"/>
            </a:xfrm>
            <a:prstGeom prst="ellipse">
              <a:avLst/>
            </a:prstGeom>
            <a:gradFill>
              <a:gsLst>
                <a:gs pos="0">
                  <a:srgbClr val="7CEFD8"/>
                </a:gs>
                <a:gs pos="100000">
                  <a:srgbClr val="6C92E1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" name="Ромб 25">
              <a:extLst>
                <a:ext uri="{FF2B5EF4-FFF2-40B4-BE49-F238E27FC236}">
                  <a16:creationId xmlns:a16="http://schemas.microsoft.com/office/drawing/2014/main" id="{EDADB6E4-A33D-42FA-AF99-6073BF0A1F07}"/>
                </a:ext>
              </a:extLst>
            </p:cNvPr>
            <p:cNvSpPr/>
            <p:nvPr/>
          </p:nvSpPr>
          <p:spPr>
            <a:xfrm>
              <a:off x="117404" y="5337893"/>
              <a:ext cx="319314" cy="319314"/>
            </a:xfrm>
            <a:prstGeom prst="diamond">
              <a:avLst/>
            </a:prstGeom>
            <a:gradFill flip="none" rotWithShape="1">
              <a:gsLst>
                <a:gs pos="100000">
                  <a:srgbClr val="FE7B4C"/>
                </a:gs>
                <a:gs pos="0">
                  <a:srgbClr val="FE7B4C">
                    <a:lumMod val="83000"/>
                    <a:lumOff val="17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glow rad="254000">
                <a:srgbClr val="FE7B4C">
                  <a:alpha val="7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dirty="0"/>
            </a:p>
          </p:txBody>
        </p:sp>
        <p:sp>
          <p:nvSpPr>
            <p:cNvPr id="40" name="Ромб 39">
              <a:extLst>
                <a:ext uri="{FF2B5EF4-FFF2-40B4-BE49-F238E27FC236}">
                  <a16:creationId xmlns:a16="http://schemas.microsoft.com/office/drawing/2014/main" id="{02153CFD-6A73-4AE2-B9B2-267A2F60EC4E}"/>
                </a:ext>
              </a:extLst>
            </p:cNvPr>
            <p:cNvSpPr/>
            <p:nvPr/>
          </p:nvSpPr>
          <p:spPr>
            <a:xfrm>
              <a:off x="3656166" y="3941881"/>
              <a:ext cx="271578" cy="271578"/>
            </a:xfrm>
            <a:prstGeom prst="diamond">
              <a:avLst/>
            </a:prstGeom>
            <a:gradFill flip="none" rotWithShape="1">
              <a:gsLst>
                <a:gs pos="100000">
                  <a:srgbClr val="FE7B4C"/>
                </a:gs>
                <a:gs pos="0">
                  <a:srgbClr val="FE7B4C">
                    <a:lumMod val="83000"/>
                    <a:lumOff val="17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glow rad="254000">
                <a:srgbClr val="FE7B4C">
                  <a:alpha val="7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dirty="0"/>
            </a:p>
          </p:txBody>
        </p:sp>
        <p:sp>
          <p:nvSpPr>
            <p:cNvPr id="41" name="Ромб 40">
              <a:extLst>
                <a:ext uri="{FF2B5EF4-FFF2-40B4-BE49-F238E27FC236}">
                  <a16:creationId xmlns:a16="http://schemas.microsoft.com/office/drawing/2014/main" id="{7381A731-66EF-4CDC-94CA-BB0DA3E7292C}"/>
                </a:ext>
              </a:extLst>
            </p:cNvPr>
            <p:cNvSpPr/>
            <p:nvPr/>
          </p:nvSpPr>
          <p:spPr>
            <a:xfrm>
              <a:off x="2941210" y="1951388"/>
              <a:ext cx="404893" cy="404893"/>
            </a:xfrm>
            <a:prstGeom prst="diamond">
              <a:avLst/>
            </a:prstGeom>
            <a:gradFill flip="none" rotWithShape="1">
              <a:gsLst>
                <a:gs pos="100000">
                  <a:srgbClr val="FE7B4C"/>
                </a:gs>
                <a:gs pos="0">
                  <a:srgbClr val="FE7B4C">
                    <a:lumMod val="83000"/>
                    <a:lumOff val="17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glow rad="254000">
                <a:srgbClr val="FE7B4C">
                  <a:alpha val="7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dirty="0"/>
            </a:p>
          </p:txBody>
        </p:sp>
      </p:grpSp>
      <p:sp>
        <p:nvSpPr>
          <p:cNvPr id="43" name="Надпись 42">
            <a:extLst>
              <a:ext uri="{FF2B5EF4-FFF2-40B4-BE49-F238E27FC236}">
                <a16:creationId xmlns:a16="http://schemas.microsoft.com/office/drawing/2014/main" id="{7BF380F0-E581-41AD-B9B8-4693DE21F634}"/>
              </a:ext>
            </a:extLst>
          </p:cNvPr>
          <p:cNvSpPr txBox="1"/>
          <p:nvPr/>
        </p:nvSpPr>
        <p:spPr>
          <a:xfrm>
            <a:off x="5257799" y="379963"/>
            <a:ext cx="6172201" cy="4836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rtl="0">
              <a:lnSpc>
                <a:spcPts val="4000"/>
              </a:lnSpc>
            </a:pPr>
            <a:r>
              <a:rPr lang="ru-RU" sz="3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Проблема сырых данных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2526A6-59DF-498D-AF5E-4A41F90B8838}"/>
              </a:ext>
            </a:extLst>
          </p:cNvPr>
          <p:cNvSpPr txBox="1"/>
          <p:nvPr/>
        </p:nvSpPr>
        <p:spPr>
          <a:xfrm>
            <a:off x="5156003" y="1026999"/>
            <a:ext cx="609760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/>
            <a:r>
              <a:rPr lang="ru-RU" dirty="0">
                <a:solidFill>
                  <a:srgbClr val="002060"/>
                </a:solidFill>
                <a:latin typeface="quote-cjk-patch"/>
                <a:cs typeface="Segoe UI" panose="020B0502040204020203" pitchFamily="34" charset="0"/>
              </a:rPr>
              <a:t>Ч</a:t>
            </a:r>
            <a:r>
              <a:rPr lang="ru-RU" sz="1800" dirty="0">
                <a:solidFill>
                  <a:srgbClr val="002060"/>
                </a:solidFill>
                <a:latin typeface="quote-cjk-patch"/>
                <a:cs typeface="Segoe UI" panose="020B0502040204020203" pitchFamily="34" charset="0"/>
              </a:rPr>
              <a:t>то мы получаем со спектрометра?</a:t>
            </a:r>
          </a:p>
          <a:p>
            <a:pPr marL="285750" indent="-285750" algn="just" rtl="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002060"/>
                </a:solidFill>
                <a:latin typeface="quote-cjk-patch"/>
                <a:cs typeface="Segoe UI" panose="020B0502040204020203" pitchFamily="34" charset="0"/>
              </a:rPr>
              <a:t>Флуоресцентный фон (свечение ткани) — огромный базовый "горб".</a:t>
            </a:r>
          </a:p>
          <a:p>
            <a:pPr marL="285750" indent="-285750" algn="just" rtl="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002060"/>
                </a:solidFill>
                <a:latin typeface="quote-cjk-patch"/>
                <a:cs typeface="Segoe UI" panose="020B0502040204020203" pitchFamily="34" charset="0"/>
              </a:rPr>
              <a:t>Высокочастотный шум (артефакты сенсора камеры) — "волосатость" спектра.</a:t>
            </a:r>
          </a:p>
          <a:p>
            <a:pPr marL="285750" indent="-285750" algn="just" rtl="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002060"/>
                </a:solidFill>
                <a:latin typeface="quote-cjk-patch"/>
                <a:cs typeface="Segoe UI" panose="020B0502040204020203" pitchFamily="34" charset="0"/>
              </a:rPr>
              <a:t>Разная фокусировка лазера — скачки общего масштаба.</a:t>
            </a:r>
            <a:endParaRPr lang="en-US" sz="1800" dirty="0">
              <a:solidFill>
                <a:srgbClr val="002060"/>
              </a:solidFill>
              <a:latin typeface="quote-cjk-patch"/>
              <a:cs typeface="Segoe UI" panose="020B0502040204020203" pitchFamily="34" charset="0"/>
            </a:endParaRPr>
          </a:p>
          <a:p>
            <a:pPr algn="just" rtl="0"/>
            <a:endParaRPr lang="ru-RU" sz="1800" dirty="0">
              <a:solidFill>
                <a:srgbClr val="002060"/>
              </a:solidFill>
              <a:latin typeface="quote-cjk-patch"/>
              <a:cs typeface="Segoe UI" panose="020B0502040204020203" pitchFamily="34" charset="0"/>
            </a:endParaRPr>
          </a:p>
          <a:p>
            <a:pPr algn="just" rtl="0"/>
            <a:r>
              <a:rPr lang="ru-RU" sz="18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Сырой спектр — красная кривая.</a:t>
            </a:r>
          </a:p>
          <a:p>
            <a:pPr algn="just" rtl="0"/>
            <a:r>
              <a:rPr lang="ru-RU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Предобработанный</a:t>
            </a:r>
            <a:r>
              <a:rPr lang="ru-RU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спектр – синяя кривая.</a:t>
            </a:r>
            <a:endParaRPr lang="ru-RU" sz="1800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78D101E-1E9E-4A72-BD00-5DC5A7B19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709" y="3889462"/>
            <a:ext cx="7228380" cy="236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68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Заголовок 52" hidden="1">
            <a:extLst>
              <a:ext uri="{FF2B5EF4-FFF2-40B4-BE49-F238E27FC236}">
                <a16:creationId xmlns:a16="http://schemas.microsoft.com/office/drawing/2014/main" id="{6BCAF586-A14B-4A3B-A249-655ADDBB3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dirty="0"/>
              <a:t>Слайд 8 с информацией о кадрах</a:t>
            </a:r>
          </a:p>
        </p:txBody>
      </p:sp>
      <p:sp>
        <p:nvSpPr>
          <p:cNvPr id="3" name="Надпись 2">
            <a:extLst>
              <a:ext uri="{FF2B5EF4-FFF2-40B4-BE49-F238E27FC236}">
                <a16:creationId xmlns:a16="http://schemas.microsoft.com/office/drawing/2014/main" id="{CE6AF7FE-5978-4B5F-90E1-044AC25EC230}"/>
              </a:ext>
            </a:extLst>
          </p:cNvPr>
          <p:cNvSpPr txBox="1"/>
          <p:nvPr/>
        </p:nvSpPr>
        <p:spPr>
          <a:xfrm>
            <a:off x="726781" y="273553"/>
            <a:ext cx="7002305" cy="4052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lnSpc>
                <a:spcPts val="4000"/>
              </a:lnSpc>
              <a:defRPr sz="3600" b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rtl="0"/>
            <a:r>
              <a:rPr lang="ru-RU" sz="3200" dirty="0"/>
              <a:t>Три шага для очистки химии от "грязи"</a:t>
            </a:r>
          </a:p>
        </p:txBody>
      </p:sp>
      <p:sp>
        <p:nvSpPr>
          <p:cNvPr id="5" name="Надпись 4">
            <a:extLst>
              <a:ext uri="{FF2B5EF4-FFF2-40B4-BE49-F238E27FC236}">
                <a16:creationId xmlns:a16="http://schemas.microsoft.com/office/drawing/2014/main" id="{11FEAF3D-6FC9-46CB-B4A4-9B8CA760AE20}"/>
              </a:ext>
            </a:extLst>
          </p:cNvPr>
          <p:cNvSpPr txBox="1"/>
          <p:nvPr/>
        </p:nvSpPr>
        <p:spPr>
          <a:xfrm>
            <a:off x="726781" y="1398447"/>
            <a:ext cx="6444040" cy="30162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600" i="1">
                <a:solidFill>
                  <a:srgbClr val="002060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marL="285750" indent="-285750" algn="just" rtl="0">
              <a:buFont typeface="Arial" panose="020B0604020202020204" pitchFamily="34" charset="0"/>
              <a:buChar char="•"/>
            </a:pPr>
            <a:r>
              <a:rPr lang="ru-RU" sz="1800" b="1" i="0" dirty="0"/>
              <a:t>ALS (Удаление базовой линии): "Натягиваем упругую резинку под горой спектра" и вычитаем фон.</a:t>
            </a:r>
          </a:p>
          <a:p>
            <a:pPr marL="285750" indent="-285750" algn="just" rtl="0">
              <a:buFont typeface="Arial" panose="020B0604020202020204" pitchFamily="34" charset="0"/>
              <a:buChar char="•"/>
            </a:pPr>
            <a:r>
              <a:rPr lang="ru-RU" sz="1800" b="1" i="0" dirty="0" err="1"/>
              <a:t>SavGol</a:t>
            </a:r>
            <a:r>
              <a:rPr lang="ru-RU" sz="1800" b="1" i="0" dirty="0"/>
              <a:t> Filter (Сглаживание): Локальные параболы вместо обычного усреднения. Убивает шум, но сохраняет острые пики веществ!</a:t>
            </a:r>
          </a:p>
          <a:p>
            <a:pPr marL="285750" indent="-285750" algn="just" rtl="0">
              <a:buFont typeface="Arial" panose="020B0604020202020204" pitchFamily="34" charset="0"/>
              <a:buChar char="•"/>
            </a:pPr>
            <a:r>
              <a:rPr lang="ru-RU" sz="1800" b="1" i="0" dirty="0"/>
              <a:t>SNV (Нормировка): Z-</a:t>
            </a:r>
            <a:r>
              <a:rPr lang="ru-RU" sz="1800" b="1" i="0" dirty="0" err="1"/>
              <a:t>score</a:t>
            </a:r>
            <a:r>
              <a:rPr lang="ru-RU" sz="1800" b="1" i="0" dirty="0"/>
              <a:t> спектра. Приводим тусклые и яркие спектры к одному масштабу интенсивности.</a:t>
            </a:r>
            <a:endParaRPr lang="en-US" sz="1800" b="1" i="0" dirty="0"/>
          </a:p>
          <a:p>
            <a:pPr algn="just" rtl="0"/>
            <a:endParaRPr lang="en-US" sz="1800" i="0" dirty="0"/>
          </a:p>
          <a:p>
            <a:pPr algn="just" rtl="0"/>
            <a:r>
              <a:rPr lang="ru-RU" sz="18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Сырой спектр — красная кривая.</a:t>
            </a:r>
          </a:p>
          <a:p>
            <a:pPr algn="just" rtl="0"/>
            <a:r>
              <a:rPr lang="ru-RU" sz="1800" i="1" dirty="0" err="1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Предобработанный</a:t>
            </a:r>
            <a:r>
              <a:rPr lang="ru-RU" sz="18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 спектр – синяя кривая.</a:t>
            </a:r>
          </a:p>
          <a:p>
            <a:pPr rtl="0"/>
            <a:endParaRPr lang="ru-RU" i="0" dirty="0"/>
          </a:p>
        </p:txBody>
      </p:sp>
      <p:pic>
        <p:nvPicPr>
          <p:cNvPr id="163" name="Рисунок 162" descr="Это изображение двух пар рук, собирающих вместе кусочки головоломки. ">
            <a:extLst>
              <a:ext uri="{FF2B5EF4-FFF2-40B4-BE49-F238E27FC236}">
                <a16:creationId xmlns:a16="http://schemas.microsoft.com/office/drawing/2014/main" id="{AB835B29-19DB-41C9-9C29-FB52358C44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224"/>
          <a:stretch/>
        </p:blipFill>
        <p:spPr>
          <a:xfrm>
            <a:off x="7548019" y="0"/>
            <a:ext cx="4643982" cy="6858000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2F14D5BA-2D5E-4275-BBDD-CD3248B98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15" y="4292286"/>
            <a:ext cx="7002305" cy="229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384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Заголовок 97" hidden="1">
            <a:extLst>
              <a:ext uri="{FF2B5EF4-FFF2-40B4-BE49-F238E27FC236}">
                <a16:creationId xmlns:a16="http://schemas.microsoft.com/office/drawing/2014/main" id="{D69146DD-53CC-4FD6-9456-3F49560FC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Слайд 9 с информацией о кадрах</a:t>
            </a:r>
          </a:p>
        </p:txBody>
      </p:sp>
      <p:sp>
        <p:nvSpPr>
          <p:cNvPr id="67" name="Надпись 66">
            <a:extLst>
              <a:ext uri="{FF2B5EF4-FFF2-40B4-BE49-F238E27FC236}">
                <a16:creationId xmlns:a16="http://schemas.microsoft.com/office/drawing/2014/main" id="{EFA5AF66-F428-4EBE-A3A8-9F827101F023}"/>
              </a:ext>
            </a:extLst>
          </p:cNvPr>
          <p:cNvSpPr txBox="1"/>
          <p:nvPr/>
        </p:nvSpPr>
        <p:spPr>
          <a:xfrm>
            <a:off x="726781" y="273553"/>
            <a:ext cx="10881286" cy="51296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lnSpc>
                <a:spcPts val="4000"/>
              </a:lnSpc>
              <a:defRPr sz="3600" b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 rtl="0"/>
            <a:r>
              <a:rPr lang="ru-RU" i="0" dirty="0"/>
              <a:t>Проверка на биологическую адекватность</a:t>
            </a:r>
          </a:p>
        </p:txBody>
      </p:sp>
      <p:sp>
        <p:nvSpPr>
          <p:cNvPr id="69" name="Надпись 68">
            <a:extLst>
              <a:ext uri="{FF2B5EF4-FFF2-40B4-BE49-F238E27FC236}">
                <a16:creationId xmlns:a16="http://schemas.microsoft.com/office/drawing/2014/main" id="{4A424134-52BB-4183-A9FC-3CBBA75DCD28}"/>
              </a:ext>
            </a:extLst>
          </p:cNvPr>
          <p:cNvSpPr txBox="1"/>
          <p:nvPr/>
        </p:nvSpPr>
        <p:spPr>
          <a:xfrm>
            <a:off x="864913" y="2037784"/>
            <a:ext cx="3048550" cy="17235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600" i="1">
                <a:solidFill>
                  <a:srgbClr val="002060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algn="just" rtl="0"/>
            <a:r>
              <a:rPr lang="ru-RU" b="1" i="0" dirty="0"/>
              <a:t>Совпадают ли наши данные со справочниками? Да!</a:t>
            </a:r>
          </a:p>
          <a:p>
            <a:pPr algn="just" rtl="0"/>
            <a:r>
              <a:rPr lang="ru-RU" b="1" i="0" dirty="0"/>
              <a:t>1060 см⁻¹ — фосфолипиды.</a:t>
            </a:r>
          </a:p>
          <a:p>
            <a:pPr algn="just" rtl="0"/>
            <a:r>
              <a:rPr lang="ru-RU" b="1" i="0" dirty="0"/>
              <a:t>1130 см⁻¹ — углеродные связи C-C.</a:t>
            </a:r>
          </a:p>
          <a:p>
            <a:pPr algn="just" rtl="0"/>
            <a:r>
              <a:rPr lang="ru-RU" b="1" i="0" dirty="0"/>
              <a:t>~1300 см⁻¹ — белковые комплексы.</a:t>
            </a:r>
          </a:p>
          <a:p>
            <a:pPr algn="just" rtl="0"/>
            <a:r>
              <a:rPr lang="ru-RU" b="1" i="0" dirty="0"/>
              <a:t>~1440 см⁻¹ — массивный липидный комплекс.</a:t>
            </a:r>
          </a:p>
        </p:txBody>
      </p:sp>
      <p:grpSp>
        <p:nvGrpSpPr>
          <p:cNvPr id="94" name="Группа 93" descr="Это изображение содержит абстрактную форму. ">
            <a:extLst>
              <a:ext uri="{FF2B5EF4-FFF2-40B4-BE49-F238E27FC236}">
                <a16:creationId xmlns:a16="http://schemas.microsoft.com/office/drawing/2014/main" id="{06C5D049-85D7-4673-9E2C-A2DF6A4D5048}"/>
              </a:ext>
            </a:extLst>
          </p:cNvPr>
          <p:cNvGrpSpPr/>
          <p:nvPr/>
        </p:nvGrpSpPr>
        <p:grpSpPr>
          <a:xfrm rot="15309759">
            <a:off x="8776317" y="4690212"/>
            <a:ext cx="4736736" cy="6407275"/>
            <a:chOff x="4855953" y="-2833465"/>
            <a:chExt cx="8948964" cy="12105059"/>
          </a:xfrm>
        </p:grpSpPr>
        <p:sp>
          <p:nvSpPr>
            <p:cNvPr id="95" name="Полилиния 10">
              <a:extLst>
                <a:ext uri="{FF2B5EF4-FFF2-40B4-BE49-F238E27FC236}">
                  <a16:creationId xmlns:a16="http://schemas.microsoft.com/office/drawing/2014/main" id="{495773B3-D6CE-453B-96D1-E95DF6122C37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/>
            </a:p>
          </p:txBody>
        </p:sp>
        <p:sp>
          <p:nvSpPr>
            <p:cNvPr id="96" name="Полилиния 11">
              <a:extLst>
                <a:ext uri="{FF2B5EF4-FFF2-40B4-BE49-F238E27FC236}">
                  <a16:creationId xmlns:a16="http://schemas.microsoft.com/office/drawing/2014/main" id="{49D9CCDB-CAB7-4554-8B96-AF649D96074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/>
            </a:p>
          </p:txBody>
        </p:sp>
        <p:sp>
          <p:nvSpPr>
            <p:cNvPr id="97" name="Полилиния 12">
              <a:extLst>
                <a:ext uri="{FF2B5EF4-FFF2-40B4-BE49-F238E27FC236}">
                  <a16:creationId xmlns:a16="http://schemas.microsoft.com/office/drawing/2014/main" id="{15844E15-7463-4C39-9A45-B2A35B7FD5C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/>
            </a:p>
          </p:txBody>
        </p:sp>
      </p:grpSp>
      <p:pic>
        <p:nvPicPr>
          <p:cNvPr id="83" name="Рисунок 82">
            <a:extLst>
              <a:ext uri="{FF2B5EF4-FFF2-40B4-BE49-F238E27FC236}">
                <a16:creationId xmlns:a16="http://schemas.microsoft.com/office/drawing/2014/main" id="{87917740-BD84-4205-8EB1-4F3B480BF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753" y="949666"/>
            <a:ext cx="5419264" cy="2840880"/>
          </a:xfrm>
          <a:prstGeom prst="rect">
            <a:avLst/>
          </a:prstGeom>
        </p:spPr>
      </p:pic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CD6661A7-65F5-4BB9-9F78-66D8E08C2AC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91" r="1098"/>
          <a:stretch/>
        </p:blipFill>
        <p:spPr>
          <a:xfrm>
            <a:off x="4731753" y="3761399"/>
            <a:ext cx="5419264" cy="2506556"/>
          </a:xfrm>
          <a:prstGeom prst="rect">
            <a:avLst/>
          </a:prstGeom>
        </p:spPr>
      </p:pic>
      <p:grpSp>
        <p:nvGrpSpPr>
          <p:cNvPr id="92" name="Группа 91" descr="Это изображение содержит абстрактную форму. ">
            <a:extLst>
              <a:ext uri="{FF2B5EF4-FFF2-40B4-BE49-F238E27FC236}">
                <a16:creationId xmlns:a16="http://schemas.microsoft.com/office/drawing/2014/main" id="{72913A9F-B6A9-4B61-BC53-A0DF61B562E9}"/>
              </a:ext>
            </a:extLst>
          </p:cNvPr>
          <p:cNvGrpSpPr/>
          <p:nvPr/>
        </p:nvGrpSpPr>
        <p:grpSpPr>
          <a:xfrm rot="15309759">
            <a:off x="-1697786" y="4198631"/>
            <a:ext cx="6346103" cy="5673749"/>
            <a:chOff x="3813164" y="-2142962"/>
            <a:chExt cx="10759181" cy="10298170"/>
          </a:xfrm>
        </p:grpSpPr>
        <p:sp>
          <p:nvSpPr>
            <p:cNvPr id="93" name="Полилиния 10">
              <a:extLst>
                <a:ext uri="{FF2B5EF4-FFF2-40B4-BE49-F238E27FC236}">
                  <a16:creationId xmlns:a16="http://schemas.microsoft.com/office/drawing/2014/main" id="{3A8D0A73-883F-40B4-AC07-94A801985736}"/>
                </a:ext>
              </a:extLst>
            </p:cNvPr>
            <p:cNvSpPr>
              <a:spLocks/>
            </p:cNvSpPr>
            <p:nvPr/>
          </p:nvSpPr>
          <p:spPr bwMode="auto">
            <a:xfrm rot="5214788">
              <a:off x="4549876" y="-1867261"/>
              <a:ext cx="9285757" cy="10759181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/>
            </a:p>
          </p:txBody>
        </p:sp>
        <p:sp>
          <p:nvSpPr>
            <p:cNvPr id="99" name="Полилиния 11">
              <a:extLst>
                <a:ext uri="{FF2B5EF4-FFF2-40B4-BE49-F238E27FC236}">
                  <a16:creationId xmlns:a16="http://schemas.microsoft.com/office/drawing/2014/main" id="{826FDF5A-494D-4859-AEE7-6DF00A02F03D}"/>
                </a:ext>
              </a:extLst>
            </p:cNvPr>
            <p:cNvSpPr>
              <a:spLocks/>
            </p:cNvSpPr>
            <p:nvPr/>
          </p:nvSpPr>
          <p:spPr bwMode="auto">
            <a:xfrm rot="3355311">
              <a:off x="4739006" y="-2478927"/>
              <a:ext cx="9374929" cy="10046859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/>
            </a:p>
          </p:txBody>
        </p:sp>
        <p:sp>
          <p:nvSpPr>
            <p:cNvPr id="100" name="Полилиния 12">
              <a:extLst>
                <a:ext uri="{FF2B5EF4-FFF2-40B4-BE49-F238E27FC236}">
                  <a16:creationId xmlns:a16="http://schemas.microsoft.com/office/drawing/2014/main" id="{27616F33-04AA-476E-B760-BB2B24E5460F}"/>
                </a:ext>
              </a:extLst>
            </p:cNvPr>
            <p:cNvSpPr>
              <a:spLocks/>
            </p:cNvSpPr>
            <p:nvPr/>
          </p:nvSpPr>
          <p:spPr bwMode="auto">
            <a:xfrm rot="4603100">
              <a:off x="4951662" y="-1660164"/>
              <a:ext cx="8104724" cy="9455563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532204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Заголовок 97" hidden="1">
            <a:extLst>
              <a:ext uri="{FF2B5EF4-FFF2-40B4-BE49-F238E27FC236}">
                <a16:creationId xmlns:a16="http://schemas.microsoft.com/office/drawing/2014/main" id="{D69146DD-53CC-4FD6-9456-3F49560FC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Слайд 9 с информацией о кадрах</a:t>
            </a:r>
          </a:p>
        </p:txBody>
      </p:sp>
      <p:sp>
        <p:nvSpPr>
          <p:cNvPr id="67" name="Надпись 66">
            <a:extLst>
              <a:ext uri="{FF2B5EF4-FFF2-40B4-BE49-F238E27FC236}">
                <a16:creationId xmlns:a16="http://schemas.microsoft.com/office/drawing/2014/main" id="{EFA5AF66-F428-4EBE-A3A8-9F827101F023}"/>
              </a:ext>
            </a:extLst>
          </p:cNvPr>
          <p:cNvSpPr txBox="1"/>
          <p:nvPr/>
        </p:nvSpPr>
        <p:spPr>
          <a:xfrm>
            <a:off x="726781" y="273553"/>
            <a:ext cx="10881286" cy="51296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lnSpc>
                <a:spcPts val="4000"/>
              </a:lnSpc>
              <a:defRPr sz="3600" b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 rtl="0"/>
            <a:r>
              <a:rPr lang="ru-RU" i="0" dirty="0"/>
              <a:t>Машинное обучение: Защита от утечки данных</a:t>
            </a:r>
          </a:p>
        </p:txBody>
      </p:sp>
      <p:grpSp>
        <p:nvGrpSpPr>
          <p:cNvPr id="94" name="Группа 93" descr="Это изображение содержит абстрактную форму. ">
            <a:extLst>
              <a:ext uri="{FF2B5EF4-FFF2-40B4-BE49-F238E27FC236}">
                <a16:creationId xmlns:a16="http://schemas.microsoft.com/office/drawing/2014/main" id="{06C5D049-85D7-4673-9E2C-A2DF6A4D5048}"/>
              </a:ext>
            </a:extLst>
          </p:cNvPr>
          <p:cNvGrpSpPr/>
          <p:nvPr/>
        </p:nvGrpSpPr>
        <p:grpSpPr>
          <a:xfrm rot="15309759">
            <a:off x="9026813" y="4622835"/>
            <a:ext cx="4736736" cy="6407275"/>
            <a:chOff x="4855953" y="-2833465"/>
            <a:chExt cx="8948964" cy="12105059"/>
          </a:xfrm>
        </p:grpSpPr>
        <p:sp>
          <p:nvSpPr>
            <p:cNvPr id="95" name="Полилиния 10">
              <a:extLst>
                <a:ext uri="{FF2B5EF4-FFF2-40B4-BE49-F238E27FC236}">
                  <a16:creationId xmlns:a16="http://schemas.microsoft.com/office/drawing/2014/main" id="{495773B3-D6CE-453B-96D1-E95DF6122C37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/>
            </a:p>
          </p:txBody>
        </p:sp>
        <p:sp>
          <p:nvSpPr>
            <p:cNvPr id="96" name="Полилиния 11">
              <a:extLst>
                <a:ext uri="{FF2B5EF4-FFF2-40B4-BE49-F238E27FC236}">
                  <a16:creationId xmlns:a16="http://schemas.microsoft.com/office/drawing/2014/main" id="{49D9CCDB-CAB7-4554-8B96-AF649D96074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/>
            </a:p>
          </p:txBody>
        </p:sp>
        <p:sp>
          <p:nvSpPr>
            <p:cNvPr id="97" name="Полилиния 12">
              <a:extLst>
                <a:ext uri="{FF2B5EF4-FFF2-40B4-BE49-F238E27FC236}">
                  <a16:creationId xmlns:a16="http://schemas.microsoft.com/office/drawing/2014/main" id="{15844E15-7463-4C39-9A45-B2A35B7FD5C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/>
            </a:p>
          </p:txBody>
        </p:sp>
      </p:grpSp>
      <p:sp>
        <p:nvSpPr>
          <p:cNvPr id="12" name="Надпись 68">
            <a:extLst>
              <a:ext uri="{FF2B5EF4-FFF2-40B4-BE49-F238E27FC236}">
                <a16:creationId xmlns:a16="http://schemas.microsoft.com/office/drawing/2014/main" id="{B4EAB9BC-6850-4E0B-A24A-254543DD80B3}"/>
              </a:ext>
            </a:extLst>
          </p:cNvPr>
          <p:cNvSpPr txBox="1"/>
          <p:nvPr/>
        </p:nvSpPr>
        <p:spPr>
          <a:xfrm>
            <a:off x="726781" y="1062122"/>
            <a:ext cx="10881286" cy="984885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600" i="1">
                <a:solidFill>
                  <a:srgbClr val="002060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algn="just" rtl="0"/>
            <a:r>
              <a:rPr lang="ru-RU" b="1" i="0" dirty="0"/>
              <a:t>В одном файле тысячи скоррелированных пикселей. Обычный </a:t>
            </a:r>
            <a:r>
              <a:rPr lang="ru-RU" b="1" i="0" dirty="0" err="1"/>
              <a:t>Train</a:t>
            </a:r>
            <a:r>
              <a:rPr lang="ru-RU" b="1" i="0" dirty="0"/>
              <a:t>/Test </a:t>
            </a:r>
            <a:r>
              <a:rPr lang="ru-RU" b="1" i="0" dirty="0" err="1"/>
              <a:t>Split</a:t>
            </a:r>
            <a:r>
              <a:rPr lang="ru-RU" b="1" i="0" dirty="0"/>
              <a:t> приведет к переобучению.</a:t>
            </a:r>
          </a:p>
          <a:p>
            <a:pPr algn="just" rtl="0"/>
            <a:r>
              <a:rPr lang="ru-RU" b="1" i="0" dirty="0"/>
              <a:t>Наше решение: </a:t>
            </a:r>
            <a:r>
              <a:rPr lang="ru-RU" b="1" i="0" dirty="0" err="1"/>
              <a:t>GroupShuffleSplit</a:t>
            </a:r>
            <a:r>
              <a:rPr lang="ru-RU" b="1" i="0" dirty="0"/>
              <a:t>. Модель никогда не видела в обучении спектры из тех кусочков ткани, на которых мы ее тестируем.</a:t>
            </a:r>
          </a:p>
          <a:p>
            <a:pPr algn="just" rtl="0"/>
            <a:r>
              <a:rPr lang="ru-RU" b="1" i="0" dirty="0"/>
              <a:t>Модель: </a:t>
            </a:r>
            <a:r>
              <a:rPr lang="ru-RU" b="1" i="0" dirty="0" err="1"/>
              <a:t>LightGBM</a:t>
            </a:r>
            <a:r>
              <a:rPr lang="ru-RU" b="1" i="0" dirty="0"/>
              <a:t> </a:t>
            </a:r>
            <a:r>
              <a:rPr lang="ru-RU" b="1" i="0" dirty="0" err="1"/>
              <a:t>Classifier</a:t>
            </a:r>
            <a:r>
              <a:rPr lang="ru-RU" b="1" i="0" dirty="0"/>
              <a:t> (3 класса: Control, </a:t>
            </a:r>
            <a:r>
              <a:rPr lang="ru-RU" b="1" i="0" dirty="0" err="1"/>
              <a:t>Endo</a:t>
            </a:r>
            <a:r>
              <a:rPr lang="ru-RU" b="1" i="0" dirty="0"/>
              <a:t>, </a:t>
            </a:r>
            <a:r>
              <a:rPr lang="ru-RU" b="1" i="0" dirty="0" err="1"/>
              <a:t>Exo</a:t>
            </a:r>
            <a:r>
              <a:rPr lang="ru-RU" b="1" i="0" dirty="0"/>
              <a:t>).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9FA9AEB-99A8-4BD3-B403-763B14A3C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380" y="2197837"/>
            <a:ext cx="4631239" cy="418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337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Заголовок 97" hidden="1">
            <a:extLst>
              <a:ext uri="{FF2B5EF4-FFF2-40B4-BE49-F238E27FC236}">
                <a16:creationId xmlns:a16="http://schemas.microsoft.com/office/drawing/2014/main" id="{D69146DD-53CC-4FD6-9456-3F49560FC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Слайд 9 с информацией о кадрах</a:t>
            </a:r>
          </a:p>
        </p:txBody>
      </p:sp>
      <p:sp>
        <p:nvSpPr>
          <p:cNvPr id="67" name="Надпись 66">
            <a:extLst>
              <a:ext uri="{FF2B5EF4-FFF2-40B4-BE49-F238E27FC236}">
                <a16:creationId xmlns:a16="http://schemas.microsoft.com/office/drawing/2014/main" id="{EFA5AF66-F428-4EBE-A3A8-9F827101F023}"/>
              </a:ext>
            </a:extLst>
          </p:cNvPr>
          <p:cNvSpPr txBox="1"/>
          <p:nvPr/>
        </p:nvSpPr>
        <p:spPr>
          <a:xfrm>
            <a:off x="726781" y="273553"/>
            <a:ext cx="10881286" cy="51296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lnSpc>
                <a:spcPts val="4000"/>
              </a:lnSpc>
              <a:defRPr sz="3600" b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 rtl="0"/>
            <a:r>
              <a:rPr lang="ru-RU" i="0" dirty="0"/>
              <a:t>Основные результаты (</a:t>
            </a:r>
            <a:r>
              <a:rPr lang="en-US" i="0" dirty="0"/>
              <a:t>File-Level Metrics)</a:t>
            </a:r>
          </a:p>
        </p:txBody>
      </p:sp>
      <p:grpSp>
        <p:nvGrpSpPr>
          <p:cNvPr id="94" name="Группа 93" descr="Это изображение содержит абстрактную форму. ">
            <a:extLst>
              <a:ext uri="{FF2B5EF4-FFF2-40B4-BE49-F238E27FC236}">
                <a16:creationId xmlns:a16="http://schemas.microsoft.com/office/drawing/2014/main" id="{06C5D049-85D7-4673-9E2C-A2DF6A4D5048}"/>
              </a:ext>
            </a:extLst>
          </p:cNvPr>
          <p:cNvGrpSpPr/>
          <p:nvPr/>
        </p:nvGrpSpPr>
        <p:grpSpPr>
          <a:xfrm rot="2530836">
            <a:off x="8988312" y="2784411"/>
            <a:ext cx="4736736" cy="6407275"/>
            <a:chOff x="4855953" y="-2833465"/>
            <a:chExt cx="8948964" cy="12105059"/>
          </a:xfrm>
        </p:grpSpPr>
        <p:sp>
          <p:nvSpPr>
            <p:cNvPr id="95" name="Полилиния 10">
              <a:extLst>
                <a:ext uri="{FF2B5EF4-FFF2-40B4-BE49-F238E27FC236}">
                  <a16:creationId xmlns:a16="http://schemas.microsoft.com/office/drawing/2014/main" id="{495773B3-D6CE-453B-96D1-E95DF6122C37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/>
            </a:p>
          </p:txBody>
        </p:sp>
        <p:sp>
          <p:nvSpPr>
            <p:cNvPr id="96" name="Полилиния 11">
              <a:extLst>
                <a:ext uri="{FF2B5EF4-FFF2-40B4-BE49-F238E27FC236}">
                  <a16:creationId xmlns:a16="http://schemas.microsoft.com/office/drawing/2014/main" id="{49D9CCDB-CAB7-4554-8B96-AF649D96074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/>
            </a:p>
          </p:txBody>
        </p:sp>
        <p:sp>
          <p:nvSpPr>
            <p:cNvPr id="97" name="Полилиния 12">
              <a:extLst>
                <a:ext uri="{FF2B5EF4-FFF2-40B4-BE49-F238E27FC236}">
                  <a16:creationId xmlns:a16="http://schemas.microsoft.com/office/drawing/2014/main" id="{15844E15-7463-4C39-9A45-B2A35B7FD5C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/>
            </a:p>
          </p:txBody>
        </p:sp>
      </p:grpSp>
      <p:sp>
        <p:nvSpPr>
          <p:cNvPr id="12" name="Надпись 68">
            <a:extLst>
              <a:ext uri="{FF2B5EF4-FFF2-40B4-BE49-F238E27FC236}">
                <a16:creationId xmlns:a16="http://schemas.microsoft.com/office/drawing/2014/main" id="{B4EAB9BC-6850-4E0B-A24A-254543DD80B3}"/>
              </a:ext>
            </a:extLst>
          </p:cNvPr>
          <p:cNvSpPr txBox="1"/>
          <p:nvPr/>
        </p:nvSpPr>
        <p:spPr>
          <a:xfrm>
            <a:off x="726781" y="966731"/>
            <a:ext cx="10881286" cy="984885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600" i="1">
                <a:solidFill>
                  <a:srgbClr val="002060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algn="just" rtl="0"/>
            <a:r>
              <a:rPr lang="ru-RU" b="1" i="0" dirty="0"/>
              <a:t>Агрегируем предсказания.</a:t>
            </a:r>
          </a:p>
          <a:p>
            <a:pPr algn="just" rtl="0"/>
            <a:r>
              <a:rPr lang="ru-RU" b="1" i="0" dirty="0"/>
              <a:t>Метрики:</a:t>
            </a:r>
          </a:p>
          <a:p>
            <a:pPr algn="just" rtl="0"/>
            <a:r>
              <a:rPr lang="ru-RU" b="1" i="0" dirty="0"/>
              <a:t>Диапазон 1500 см⁻¹: Точность 75.0%</a:t>
            </a:r>
          </a:p>
          <a:p>
            <a:pPr algn="just" rtl="0"/>
            <a:r>
              <a:rPr lang="ru-RU" b="1" i="0" dirty="0"/>
              <a:t>Диапазон 2900 см⁻¹ (Липиды): Точность 79.1%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3FEF86-2E4C-450D-84B2-E17CA0CAF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904" y="2378054"/>
            <a:ext cx="4300191" cy="407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324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Заголовок 97" hidden="1">
            <a:extLst>
              <a:ext uri="{FF2B5EF4-FFF2-40B4-BE49-F238E27FC236}">
                <a16:creationId xmlns:a16="http://schemas.microsoft.com/office/drawing/2014/main" id="{D69146DD-53CC-4FD6-9456-3F49560FC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Слайд 9 с информацией о кадрах</a:t>
            </a:r>
          </a:p>
        </p:txBody>
      </p:sp>
      <p:sp>
        <p:nvSpPr>
          <p:cNvPr id="67" name="Надпись 66">
            <a:extLst>
              <a:ext uri="{FF2B5EF4-FFF2-40B4-BE49-F238E27FC236}">
                <a16:creationId xmlns:a16="http://schemas.microsoft.com/office/drawing/2014/main" id="{EFA5AF66-F428-4EBE-A3A8-9F827101F023}"/>
              </a:ext>
            </a:extLst>
          </p:cNvPr>
          <p:cNvSpPr txBox="1"/>
          <p:nvPr/>
        </p:nvSpPr>
        <p:spPr>
          <a:xfrm>
            <a:off x="726781" y="273553"/>
            <a:ext cx="10881286" cy="51296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lnSpc>
                <a:spcPts val="4000"/>
              </a:lnSpc>
              <a:defRPr sz="3600" b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 rtl="0"/>
            <a:r>
              <a:rPr lang="ru-RU" i="0" dirty="0"/>
              <a:t>Выводы: Что поняла модель? </a:t>
            </a:r>
            <a:endParaRPr lang="en-US" i="0" dirty="0"/>
          </a:p>
        </p:txBody>
      </p:sp>
      <p:sp>
        <p:nvSpPr>
          <p:cNvPr id="12" name="Надпись 68">
            <a:extLst>
              <a:ext uri="{FF2B5EF4-FFF2-40B4-BE49-F238E27FC236}">
                <a16:creationId xmlns:a16="http://schemas.microsoft.com/office/drawing/2014/main" id="{B4EAB9BC-6850-4E0B-A24A-254543DD80B3}"/>
              </a:ext>
            </a:extLst>
          </p:cNvPr>
          <p:cNvSpPr txBox="1"/>
          <p:nvPr/>
        </p:nvSpPr>
        <p:spPr>
          <a:xfrm>
            <a:off x="481263" y="1351291"/>
            <a:ext cx="3734602" cy="246221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600" i="1">
                <a:solidFill>
                  <a:srgbClr val="002060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algn="just" rtl="0"/>
            <a:r>
              <a:rPr lang="ru-RU" b="1" i="0" dirty="0"/>
              <a:t>Самые важные маркеры, по которым модель отличает классы:</a:t>
            </a:r>
          </a:p>
          <a:p>
            <a:pPr algn="just" rtl="0"/>
            <a:r>
              <a:rPr lang="ru-RU" b="1" i="0" dirty="0"/>
              <a:t>Пики белков (1289, 1434 см⁻¹).</a:t>
            </a:r>
          </a:p>
          <a:p>
            <a:pPr algn="just" rtl="0"/>
            <a:r>
              <a:rPr lang="ru-RU" b="1" i="0" dirty="0"/>
              <a:t>Пики липидных мембран (2878-2882 см⁻¹).</a:t>
            </a:r>
          </a:p>
          <a:p>
            <a:pPr algn="just" rtl="0"/>
            <a:r>
              <a:rPr lang="ru-RU" b="1" i="0" dirty="0"/>
              <a:t>Биологический вывод: Введение белка HSP70 (</a:t>
            </a:r>
            <a:r>
              <a:rPr lang="ru-RU" b="1" i="0" dirty="0" err="1"/>
              <a:t>Exo</a:t>
            </a:r>
            <a:r>
              <a:rPr lang="ru-RU" b="1" i="0" dirty="0"/>
              <a:t>) и собственная выработка (</a:t>
            </a:r>
            <a:r>
              <a:rPr lang="ru-RU" b="1" i="0" dirty="0" err="1"/>
              <a:t>Endo</a:t>
            </a:r>
            <a:r>
              <a:rPr lang="ru-RU" b="1" i="0" dirty="0"/>
              <a:t>) в ответ на стресс напрямую меняют структуру белков и плотность липидных мембран нейронов. Модель успешно "видит" этот </a:t>
            </a:r>
            <a:r>
              <a:rPr lang="ru-RU" b="1" i="0" dirty="0" err="1"/>
              <a:t>нейропротективный</a:t>
            </a:r>
            <a:r>
              <a:rPr lang="ru-RU" b="1" i="0" dirty="0"/>
              <a:t> эффект!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E64E4C8-926A-4328-BADC-924976241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466" y="1195287"/>
            <a:ext cx="6823753" cy="223371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25B71A7-8DE7-4C9B-81E5-E3DBAFA1C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465" y="3554985"/>
            <a:ext cx="6823753" cy="3029462"/>
          </a:xfrm>
          <a:prstGeom prst="rect">
            <a:avLst/>
          </a:prstGeom>
        </p:spPr>
      </p:pic>
      <p:grpSp>
        <p:nvGrpSpPr>
          <p:cNvPr id="14" name="Группа 13" descr="Это изображение содержит абстрактную форму. ">
            <a:extLst>
              <a:ext uri="{FF2B5EF4-FFF2-40B4-BE49-F238E27FC236}">
                <a16:creationId xmlns:a16="http://schemas.microsoft.com/office/drawing/2014/main" id="{02EC8488-0E5F-4AA9-B5E1-C9508074B38C}"/>
              </a:ext>
            </a:extLst>
          </p:cNvPr>
          <p:cNvGrpSpPr/>
          <p:nvPr/>
        </p:nvGrpSpPr>
        <p:grpSpPr>
          <a:xfrm rot="20021425">
            <a:off x="-656201" y="3380809"/>
            <a:ext cx="4736736" cy="6407275"/>
            <a:chOff x="4855953" y="-2833465"/>
            <a:chExt cx="8948964" cy="12105059"/>
          </a:xfrm>
        </p:grpSpPr>
        <p:sp>
          <p:nvSpPr>
            <p:cNvPr id="15" name="Полилиния 10">
              <a:extLst>
                <a:ext uri="{FF2B5EF4-FFF2-40B4-BE49-F238E27FC236}">
                  <a16:creationId xmlns:a16="http://schemas.microsoft.com/office/drawing/2014/main" id="{6DA43EF4-FECF-491C-8D58-57AFD5710D7E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/>
            </a:p>
          </p:txBody>
        </p:sp>
        <p:sp>
          <p:nvSpPr>
            <p:cNvPr id="16" name="Полилиния 11">
              <a:extLst>
                <a:ext uri="{FF2B5EF4-FFF2-40B4-BE49-F238E27FC236}">
                  <a16:creationId xmlns:a16="http://schemas.microsoft.com/office/drawing/2014/main" id="{DC321B38-D8DC-44EE-B35D-3997C3A31537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/>
            </a:p>
          </p:txBody>
        </p:sp>
        <p:sp>
          <p:nvSpPr>
            <p:cNvPr id="17" name="Полилиния 12">
              <a:extLst>
                <a:ext uri="{FF2B5EF4-FFF2-40B4-BE49-F238E27FC236}">
                  <a16:creationId xmlns:a16="http://schemas.microsoft.com/office/drawing/2014/main" id="{A016F13E-FD2F-4D46-9838-C7D02C6010CA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356975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Заголовок 24" hidden="1">
            <a:extLst>
              <a:ext uri="{FF2B5EF4-FFF2-40B4-BE49-F238E27FC236}">
                <a16:creationId xmlns:a16="http://schemas.microsoft.com/office/drawing/2014/main" id="{24922840-A8AD-427F-889C-2B79CACC8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dirty="0"/>
              <a:t>Слайд 10 с информацией о кадрах</a:t>
            </a:r>
          </a:p>
        </p:txBody>
      </p:sp>
      <p:sp>
        <p:nvSpPr>
          <p:cNvPr id="3" name="Надпись 2">
            <a:extLst>
              <a:ext uri="{FF2B5EF4-FFF2-40B4-BE49-F238E27FC236}">
                <a16:creationId xmlns:a16="http://schemas.microsoft.com/office/drawing/2014/main" id="{9436B850-15F2-41BC-A54E-6E0F332F011D}"/>
              </a:ext>
            </a:extLst>
          </p:cNvPr>
          <p:cNvSpPr txBox="1"/>
          <p:nvPr/>
        </p:nvSpPr>
        <p:spPr>
          <a:xfrm>
            <a:off x="733192" y="4331033"/>
            <a:ext cx="4845708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ru-RU" sz="5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Спасибо за внимание!</a:t>
            </a:r>
          </a:p>
        </p:txBody>
      </p:sp>
      <p:grpSp>
        <p:nvGrpSpPr>
          <p:cNvPr id="23" name="Группа 22" descr="Это изображение содержит абстрактную форму. ">
            <a:extLst>
              <a:ext uri="{FF2B5EF4-FFF2-40B4-BE49-F238E27FC236}">
                <a16:creationId xmlns:a16="http://schemas.microsoft.com/office/drawing/2014/main" id="{C5C1EC81-7459-4B76-B0C8-CF221BB21A2F}"/>
              </a:ext>
            </a:extLst>
          </p:cNvPr>
          <p:cNvGrpSpPr/>
          <p:nvPr/>
        </p:nvGrpSpPr>
        <p:grpSpPr>
          <a:xfrm>
            <a:off x="4855953" y="-2833465"/>
            <a:ext cx="8948964" cy="12105059"/>
            <a:chOff x="4855953" y="-2833465"/>
            <a:chExt cx="8948964" cy="12105059"/>
          </a:xfrm>
        </p:grpSpPr>
        <p:sp>
          <p:nvSpPr>
            <p:cNvPr id="20" name="Полилиния 10">
              <a:extLst>
                <a:ext uri="{FF2B5EF4-FFF2-40B4-BE49-F238E27FC236}">
                  <a16:creationId xmlns:a16="http://schemas.microsoft.com/office/drawing/2014/main" id="{6067105C-8C4E-4F4D-AF25-4E9E7FEE019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1" name="Полилиния 11">
              <a:extLst>
                <a:ext uri="{FF2B5EF4-FFF2-40B4-BE49-F238E27FC236}">
                  <a16:creationId xmlns:a16="http://schemas.microsoft.com/office/drawing/2014/main" id="{70B75532-3E3F-4E79-89ED-8E7671BB9C6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2" name="Полилиния 12">
              <a:extLst>
                <a:ext uri="{FF2B5EF4-FFF2-40B4-BE49-F238E27FC236}">
                  <a16:creationId xmlns:a16="http://schemas.microsoft.com/office/drawing/2014/main" id="{517F7404-4FD2-4A56-9BC1-55945A2E004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23525685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3067236_TF33668227_Win32" id="{A1CF777F-252D-44C9-9E90-BC861182E988}" vid="{81A8A2D9-498C-4462-BA31-56AF9D4A7F94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E40622C-5D03-4258-98D9-CB4F18C7FAD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AA17EA8-7A9B-4350-B9C2-AA100F76C2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516AB37-D7B9-4507-B21E-5D459905C6C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Управление персоналом, от 24Slides</Template>
  <TotalTime>247</TotalTime>
  <Words>568</Words>
  <Application>Microsoft Office PowerPoint</Application>
  <PresentationFormat>Широкоэкранный</PresentationFormat>
  <Paragraphs>63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quote-cjk-patch</vt:lpstr>
      <vt:lpstr>Segoe UI</vt:lpstr>
      <vt:lpstr>Тема Office</vt:lpstr>
      <vt:lpstr>Слайд 1 с информацией о кадрах</vt:lpstr>
      <vt:lpstr>Слайд 2 с информацией о кадрах</vt:lpstr>
      <vt:lpstr>Слайд 6 с информацией о кадрах</vt:lpstr>
      <vt:lpstr>Слайд 8 с информацией о кадрах</vt:lpstr>
      <vt:lpstr>Слайд 9 с информацией о кадрах</vt:lpstr>
      <vt:lpstr>Слайд 9 с информацией о кадрах</vt:lpstr>
      <vt:lpstr>Слайд 9 с информацией о кадрах</vt:lpstr>
      <vt:lpstr>Слайд 9 с информацией о кадрах</vt:lpstr>
      <vt:lpstr>Слайд 10 с информацией о кадрах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 с информацией о кадрах</dc:title>
  <dc:creator>Анастасия Илькаева</dc:creator>
  <cp:lastModifiedBy>Анастасия Илькаева</cp:lastModifiedBy>
  <cp:revision>14</cp:revision>
  <dcterms:created xsi:type="dcterms:W3CDTF">2026-03-07T12:40:15Z</dcterms:created>
  <dcterms:modified xsi:type="dcterms:W3CDTF">2026-03-07T18:03:42Z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